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70" r:id="rId3"/>
    <p:sldId id="273" r:id="rId4"/>
    <p:sldId id="277" r:id="rId5"/>
    <p:sldId id="275" r:id="rId6"/>
    <p:sldId id="279" r:id="rId7"/>
    <p:sldId id="276" r:id="rId8"/>
    <p:sldId id="280" r:id="rId9"/>
    <p:sldId id="281" r:id="rId10"/>
    <p:sldId id="282" r:id="rId11"/>
    <p:sldId id="2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C9"/>
    <a:srgbClr val="1B1464"/>
    <a:srgbClr val="142342"/>
    <a:srgbClr val="D4A01E"/>
    <a:srgbClr val="14150F"/>
    <a:srgbClr val="330329"/>
    <a:srgbClr val="FEF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77" autoAdjust="0"/>
    <p:restoredTop sz="95256" autoAdjust="0"/>
  </p:normalViewPr>
  <p:slideViewPr>
    <p:cSldViewPr snapToGrid="0">
      <p:cViewPr varScale="1">
        <p:scale>
          <a:sx n="64" d="100"/>
          <a:sy n="64" d="100"/>
        </p:scale>
        <p:origin x="7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[QUARTERLYREPORT.xlsx]FEE BY MONTH!PivotTable12</c:name>
    <c:fmtId val="-1"/>
  </c:pivotSource>
  <c:chart>
    <c:title>
      <c:tx>
        <c:rich>
          <a:bodyPr rot="0" spcFirstLastPara="1" vertOverflow="ellipsis" vert="horz" wrap="square" anchor="ctr" anchorCtr="1"/>
          <a:lstStyle/>
          <a:p>
            <a:pPr>
              <a:defRPr sz="1200" b="0" i="0" u="none" strike="noStrike" kern="1200" spc="0" baseline="0">
                <a:solidFill>
                  <a:sysClr val="windowText" lastClr="000000"/>
                </a:solidFill>
                <a:latin typeface="Poppins" panose="00000500000000000000" pitchFamily="2" charset="0"/>
                <a:ea typeface="+mn-ea"/>
                <a:cs typeface="Poppins" panose="00000500000000000000" pitchFamily="2" charset="0"/>
              </a:defRPr>
            </a:pPr>
            <a:r>
              <a:rPr lang="en-US" spc="300" dirty="0"/>
              <a:t>VOLUME OF TRANSACTIONS PER MONTH</a:t>
            </a:r>
          </a:p>
        </c:rich>
      </c:tx>
      <c:overlay val="0"/>
      <c:spPr>
        <a:noFill/>
        <a:ln>
          <a:noFill/>
        </a:ln>
        <a:effectLst/>
      </c:spPr>
      <c:txPr>
        <a:bodyPr rot="0" spcFirstLastPara="1" vertOverflow="ellipsis" vert="horz" wrap="square" anchor="ctr" anchorCtr="1"/>
        <a:lstStyle/>
        <a:p>
          <a:pPr>
            <a:defRPr sz="1200" b="0" i="0" u="none" strike="noStrike" kern="1200" spc="0" baseline="0">
              <a:solidFill>
                <a:sysClr val="windowText" lastClr="000000"/>
              </a:solidFill>
              <a:latin typeface="Poppins" panose="00000500000000000000" pitchFamily="2" charset="0"/>
              <a:ea typeface="+mn-ea"/>
              <a:cs typeface="Poppins" panose="00000500000000000000" pitchFamily="2" charset="0"/>
            </a:defRPr>
          </a:pPr>
          <a:endParaRPr lang="en-US"/>
        </a:p>
      </c:txPr>
    </c:title>
    <c:autoTitleDeleted val="0"/>
    <c:pivotFmts>
      <c:pivotFmt>
        <c:idx val="0"/>
        <c:spPr>
          <a:solidFill>
            <a:schemeClr val="accent1"/>
          </a:solidFill>
          <a:ln w="19050">
            <a:solidFill>
              <a:schemeClr val="lt1"/>
            </a:solidFill>
          </a:ln>
          <a:effectLst>
            <a:outerShdw blurRad="50800" dist="38100" dir="5400000" algn="t" rotWithShape="0">
              <a:prstClr val="black">
                <a:alpha val="40000"/>
              </a:prstClr>
            </a:outerShdw>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00B0F0"/>
          </a:solidFill>
          <a:ln w="19050">
            <a:solidFill>
              <a:schemeClr val="lt1"/>
            </a:solidFill>
          </a:ln>
          <a:effectLst>
            <a:outerShdw blurRad="50800" dist="38100" dir="5400000" algn="t" rotWithShape="0">
              <a:prstClr val="black">
                <a:alpha val="40000"/>
              </a:prstClr>
            </a:outerShdw>
          </a:effectLst>
        </c:spPr>
      </c:pivotFmt>
      <c:pivotFmt>
        <c:idx val="2"/>
        <c:spPr>
          <a:solidFill>
            <a:srgbClr val="92D050"/>
          </a:solidFill>
          <a:ln w="19050">
            <a:solidFill>
              <a:schemeClr val="lt1"/>
            </a:solidFill>
          </a:ln>
          <a:effectLst>
            <a:outerShdw blurRad="50800" dist="38100" dir="5400000" algn="t" rotWithShape="0">
              <a:prstClr val="black">
                <a:alpha val="40000"/>
              </a:prstClr>
            </a:outerShdw>
          </a:effectLst>
        </c:spPr>
      </c:pivotFmt>
      <c:pivotFmt>
        <c:idx val="3"/>
        <c:spPr>
          <a:solidFill>
            <a:srgbClr val="FF0000"/>
          </a:solidFill>
          <a:ln w="19050">
            <a:solidFill>
              <a:schemeClr val="lt1"/>
            </a:solidFill>
          </a:ln>
          <a:effectLst>
            <a:outerShdw blurRad="50800" dist="38100" dir="5400000" algn="t" rotWithShape="0">
              <a:prstClr val="black">
                <a:alpha val="40000"/>
              </a:prstClr>
            </a:outerShdw>
          </a:effectLst>
        </c:spPr>
      </c:pivotFmt>
      <c:pivotFmt>
        <c:idx val="4"/>
        <c:spPr>
          <a:solidFill>
            <a:schemeClr val="accent1"/>
          </a:solidFill>
          <a:ln w="19050">
            <a:solidFill>
              <a:schemeClr val="lt1"/>
            </a:solidFill>
          </a:ln>
          <a:effectLst>
            <a:outerShdw blurRad="50800" dist="38100" dir="5400000" algn="t" rotWithShape="0">
              <a:prstClr val="black">
                <a:alpha val="40000"/>
              </a:prstClr>
            </a:outerShdw>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0000"/>
          </a:solidFill>
          <a:ln w="19050">
            <a:solidFill>
              <a:schemeClr val="lt1"/>
            </a:solidFill>
          </a:ln>
          <a:effectLst>
            <a:outerShdw blurRad="50800" dist="38100" dir="5400000" algn="t" rotWithShape="0">
              <a:prstClr val="black">
                <a:alpha val="40000"/>
              </a:prstClr>
            </a:outerShdw>
          </a:effectLst>
        </c:spPr>
      </c:pivotFmt>
      <c:pivotFmt>
        <c:idx val="6"/>
        <c:spPr>
          <a:solidFill>
            <a:srgbClr val="92D050"/>
          </a:solidFill>
          <a:ln w="19050">
            <a:solidFill>
              <a:schemeClr val="lt1"/>
            </a:solidFill>
          </a:ln>
          <a:effectLst>
            <a:outerShdw blurRad="50800" dist="38100" dir="5400000" algn="t" rotWithShape="0">
              <a:prstClr val="black">
                <a:alpha val="40000"/>
              </a:prstClr>
            </a:outerShdw>
          </a:effectLst>
        </c:spPr>
      </c:pivotFmt>
      <c:pivotFmt>
        <c:idx val="7"/>
        <c:spPr>
          <a:solidFill>
            <a:srgbClr val="00B0F0"/>
          </a:solidFill>
          <a:ln w="19050">
            <a:solidFill>
              <a:schemeClr val="lt1"/>
            </a:solidFill>
          </a:ln>
          <a:effectLst>
            <a:outerShdw blurRad="50800" dist="38100" dir="5400000" algn="t" rotWithShape="0">
              <a:prstClr val="black">
                <a:alpha val="40000"/>
              </a:prstClr>
            </a:outerShdw>
          </a:effectLst>
        </c:spPr>
      </c:pivotFmt>
      <c:pivotFmt>
        <c:idx val="8"/>
        <c:spPr>
          <a:solidFill>
            <a:schemeClr val="accent1"/>
          </a:solidFill>
          <a:ln w="19050">
            <a:solidFill>
              <a:schemeClr val="lt1"/>
            </a:solidFill>
          </a:ln>
          <a:effectLst>
            <a:outerShdw blurRad="50800" dist="38100" dir="5400000" algn="t" rotWithShape="0">
              <a:prstClr val="black">
                <a:alpha val="40000"/>
              </a:prstClr>
            </a:outerShdw>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0000"/>
          </a:solidFill>
          <a:ln w="19050">
            <a:solidFill>
              <a:schemeClr val="lt1"/>
            </a:solidFill>
          </a:ln>
          <a:effectLst>
            <a:outerShdw blurRad="50800" dist="38100" dir="5400000" algn="t" rotWithShape="0">
              <a:prstClr val="black">
                <a:alpha val="40000"/>
              </a:prstClr>
            </a:outerShdw>
          </a:effectLst>
        </c:spPr>
      </c:pivotFmt>
      <c:pivotFmt>
        <c:idx val="10"/>
        <c:spPr>
          <a:solidFill>
            <a:srgbClr val="92D050"/>
          </a:solidFill>
          <a:ln w="19050">
            <a:solidFill>
              <a:schemeClr val="lt1"/>
            </a:solidFill>
          </a:ln>
          <a:effectLst>
            <a:outerShdw blurRad="50800" dist="38100" dir="5400000" algn="t" rotWithShape="0">
              <a:prstClr val="black">
                <a:alpha val="40000"/>
              </a:prstClr>
            </a:outerShdw>
          </a:effectLst>
        </c:spPr>
      </c:pivotFmt>
      <c:pivotFmt>
        <c:idx val="11"/>
        <c:spPr>
          <a:solidFill>
            <a:srgbClr val="00B0F0"/>
          </a:solidFill>
          <a:ln w="19050">
            <a:solidFill>
              <a:schemeClr val="lt1"/>
            </a:solidFill>
          </a:ln>
          <a:effectLst>
            <a:outerShdw blurRad="50800" dist="38100" dir="5400000" algn="t" rotWithShape="0">
              <a:prstClr val="black">
                <a:alpha val="40000"/>
              </a:prstClr>
            </a:outerShdw>
          </a:effectLst>
        </c:spPr>
      </c:pivotFmt>
    </c:pivotFmts>
    <c:plotArea>
      <c:layout/>
      <c:pieChart>
        <c:varyColors val="1"/>
        <c:ser>
          <c:idx val="0"/>
          <c:order val="0"/>
          <c:tx>
            <c:strRef>
              <c:f>'FEE BY MONTH'!$C$29</c:f>
              <c:strCache>
                <c:ptCount val="1"/>
                <c:pt idx="0">
                  <c:v>Total</c:v>
                </c:pt>
              </c:strCache>
            </c:strRef>
          </c:tx>
          <c:spPr>
            <a:effectLst>
              <a:outerShdw blurRad="50800" dist="38100" dir="5400000" algn="t" rotWithShape="0">
                <a:prstClr val="black">
                  <a:alpha val="40000"/>
                </a:prstClr>
              </a:outerShdw>
            </a:effectLst>
          </c:spPr>
          <c:explosion val="16"/>
          <c:dPt>
            <c:idx val="0"/>
            <c:bubble3D val="0"/>
            <c:spPr>
              <a:solidFill>
                <a:srgbClr val="FF0000"/>
              </a:solidFill>
              <a:ln w="19050">
                <a:solidFill>
                  <a:schemeClr val="lt1"/>
                </a:solidFill>
              </a:ln>
              <a:effectLst>
                <a:outerShdw blurRad="50800" dist="38100" dir="5400000" algn="t" rotWithShape="0">
                  <a:prstClr val="black">
                    <a:alpha val="40000"/>
                  </a:prstClr>
                </a:outerShdw>
              </a:effectLst>
            </c:spPr>
            <c:extLst>
              <c:ext xmlns:c16="http://schemas.microsoft.com/office/drawing/2014/chart" uri="{C3380CC4-5D6E-409C-BE32-E72D297353CC}">
                <c16:uniqueId val="{00000001-6824-435E-B3EC-AA1251A6AEAA}"/>
              </c:ext>
            </c:extLst>
          </c:dPt>
          <c:dPt>
            <c:idx val="1"/>
            <c:bubble3D val="0"/>
            <c:spPr>
              <a:solidFill>
                <a:srgbClr val="92D050"/>
              </a:solidFill>
              <a:ln w="19050">
                <a:solidFill>
                  <a:schemeClr val="lt1"/>
                </a:solidFill>
              </a:ln>
              <a:effectLst>
                <a:outerShdw blurRad="50800" dist="38100" dir="5400000" algn="t" rotWithShape="0">
                  <a:prstClr val="black">
                    <a:alpha val="40000"/>
                  </a:prstClr>
                </a:outerShdw>
              </a:effectLst>
            </c:spPr>
            <c:extLst>
              <c:ext xmlns:c16="http://schemas.microsoft.com/office/drawing/2014/chart" uri="{C3380CC4-5D6E-409C-BE32-E72D297353CC}">
                <c16:uniqueId val="{00000003-6824-435E-B3EC-AA1251A6AEAA}"/>
              </c:ext>
            </c:extLst>
          </c:dPt>
          <c:dPt>
            <c:idx val="2"/>
            <c:bubble3D val="0"/>
            <c:spPr>
              <a:solidFill>
                <a:srgbClr val="00B0F0"/>
              </a:solidFill>
              <a:ln w="19050">
                <a:solidFill>
                  <a:schemeClr val="lt1"/>
                </a:solidFill>
              </a:ln>
              <a:effectLst>
                <a:outerShdw blurRad="50800" dist="38100" dir="5400000" algn="t" rotWithShape="0">
                  <a:prstClr val="black">
                    <a:alpha val="40000"/>
                  </a:prstClr>
                </a:outerShdw>
              </a:effectLst>
            </c:spPr>
            <c:extLst>
              <c:ext xmlns:c16="http://schemas.microsoft.com/office/drawing/2014/chart" uri="{C3380CC4-5D6E-409C-BE32-E72D297353CC}">
                <c16:uniqueId val="{00000005-6824-435E-B3EC-AA1251A6AEAA}"/>
              </c:ext>
            </c:extLst>
          </c:dPt>
          <c:dLbls>
            <c:dLbl>
              <c:idx val="2"/>
              <c:tx>
                <c:rich>
                  <a:bodyPr/>
                  <a:lstStyle/>
                  <a:p>
                    <a:fld id="{4BFA8673-0108-47E6-AA5D-ABBAB15913C8}" type="VALUE">
                      <a:rPr lang="en-US" sz="1800"/>
                      <a:pPr/>
                      <a:t>[VALUE]</a:t>
                    </a:fld>
                    <a:endParaRPr lang="en-GB"/>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824-435E-B3EC-AA1251A6AEAA}"/>
                </c:ext>
              </c:extLst>
            </c:dLbl>
            <c:spPr>
              <a:noFill/>
              <a:ln>
                <a:noFill/>
              </a:ln>
              <a:effectLst/>
            </c:spPr>
            <c:txPr>
              <a:bodyPr rot="0" spcFirstLastPara="1" vertOverflow="ellipsis" vert="horz" wrap="square" anchor="ctr" anchorCtr="1"/>
              <a:lstStyle/>
              <a:p>
                <a:pPr>
                  <a:defRPr sz="1800" b="1"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'FEE BY MONTH'!$B$30:$B$33</c:f>
              <c:strCache>
                <c:ptCount val="3"/>
                <c:pt idx="0">
                  <c:v>Jan</c:v>
                </c:pt>
                <c:pt idx="1">
                  <c:v>Feb</c:v>
                </c:pt>
                <c:pt idx="2">
                  <c:v>Mar</c:v>
                </c:pt>
              </c:strCache>
            </c:strRef>
          </c:cat>
          <c:val>
            <c:numRef>
              <c:f>'FEE BY MONTH'!$C$30:$C$33</c:f>
              <c:numCache>
                <c:formatCode>0</c:formatCode>
                <c:ptCount val="3"/>
                <c:pt idx="0">
                  <c:v>30</c:v>
                </c:pt>
                <c:pt idx="1">
                  <c:v>42</c:v>
                </c:pt>
                <c:pt idx="2">
                  <c:v>41</c:v>
                </c:pt>
              </c:numCache>
            </c:numRef>
          </c:val>
          <c:extLst>
            <c:ext xmlns:c16="http://schemas.microsoft.com/office/drawing/2014/chart" uri="{C3380CC4-5D6E-409C-BE32-E72D297353CC}">
              <c16:uniqueId val="{00000006-6824-435E-B3EC-AA1251A6AEA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b="0">
          <a:solidFill>
            <a:sysClr val="windowText" lastClr="000000"/>
          </a:solidFill>
          <a:latin typeface="Poppins" panose="00000500000000000000" pitchFamily="2" charset="0"/>
          <a:cs typeface="Poppins" panose="00000500000000000000" pitchFamily="2"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[QUARTERLYREPORT.xlsx]TRANSACTION CHANNEL!PivotTable1</c:name>
    <c:fmtId val="-1"/>
  </c:pivotSource>
  <c:chart>
    <c:title>
      <c:tx>
        <c:rich>
          <a:bodyPr rot="0" spcFirstLastPara="1" vertOverflow="ellipsis" vert="horz" wrap="square" anchor="ctr" anchorCtr="1"/>
          <a:lstStyle/>
          <a:p>
            <a:pPr algn="ctr" rtl="0">
              <a:defRPr sz="1200" b="0" i="0" u="none" strike="noStrike" kern="1200" baseline="0">
                <a:solidFill>
                  <a:schemeClr val="tx1"/>
                </a:solidFill>
                <a:latin typeface="Poppins" panose="00000500000000000000" pitchFamily="2" charset="0"/>
                <a:ea typeface="+mn-ea"/>
                <a:cs typeface="Poppins" panose="00000500000000000000" pitchFamily="2" charset="0"/>
              </a:defRPr>
            </a:pPr>
            <a:r>
              <a:rPr lang="en-US" spc="300" dirty="0"/>
              <a:t>TOTAL FEE GENERATED FROM ALL CHANNELS</a:t>
            </a:r>
          </a:p>
        </c:rich>
      </c:tx>
      <c:overlay val="0"/>
      <c:spPr>
        <a:noFill/>
        <a:ln>
          <a:noFill/>
        </a:ln>
        <a:effectLst/>
      </c:spPr>
      <c:txPr>
        <a:bodyPr rot="0" spcFirstLastPara="1" vertOverflow="ellipsis" vert="horz" wrap="square" anchor="ctr" anchorCtr="1"/>
        <a:lstStyle/>
        <a:p>
          <a:pPr algn="ctr" rtl="0">
            <a:defRPr sz="12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'TRANSACTION CHANNEL'!$B$20</c:f>
              <c:strCache>
                <c:ptCount val="1"/>
                <c:pt idx="0">
                  <c:v>Total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cat>
            <c:strRef>
              <c:f>'TRANSACTION CHANNEL'!$A$21:$A$26</c:f>
              <c:strCache>
                <c:ptCount val="5"/>
                <c:pt idx="0">
                  <c:v>BillsPayment-</c:v>
                </c:pt>
                <c:pt idx="1">
                  <c:v>BillsPayment- EKEDC PREPAID4390157
3840/top up</c:v>
                </c:pt>
                <c:pt idx="2">
                  <c:v>BillsPayment- IKEDC
Prepaid430128414 62/</c:v>
                </c:pt>
                <c:pt idx="3">
                  <c:v>EazyPay Outward</c:v>
                </c:pt>
                <c:pt idx="4">
                  <c:v>EazyPay Outward Funds FT</c:v>
                </c:pt>
              </c:strCache>
            </c:strRef>
          </c:cat>
          <c:val>
            <c:numRef>
              <c:f>'TRANSACTION CHANNEL'!$B$21:$B$26</c:f>
              <c:numCache>
                <c:formatCode>General</c:formatCode>
                <c:ptCount val="5"/>
                <c:pt idx="0">
                  <c:v>100</c:v>
                </c:pt>
                <c:pt idx="1">
                  <c:v>100</c:v>
                </c:pt>
                <c:pt idx="2">
                  <c:v>100</c:v>
                </c:pt>
                <c:pt idx="3">
                  <c:v>10.75</c:v>
                </c:pt>
                <c:pt idx="4">
                  <c:v>268.76</c:v>
                </c:pt>
              </c:numCache>
            </c:numRef>
          </c:val>
          <c:smooth val="0"/>
          <c:extLst>
            <c:ext xmlns:c16="http://schemas.microsoft.com/office/drawing/2014/chart" uri="{C3380CC4-5D6E-409C-BE32-E72D297353CC}">
              <c16:uniqueId val="{00000000-C3DE-468B-B0D7-B01AB2E9ED97}"/>
            </c:ext>
          </c:extLst>
        </c:ser>
        <c:dLbls>
          <c:showLegendKey val="0"/>
          <c:showVal val="0"/>
          <c:showCatName val="0"/>
          <c:showSerName val="0"/>
          <c:showPercent val="0"/>
          <c:showBubbleSize val="0"/>
        </c:dLbls>
        <c:marker val="1"/>
        <c:smooth val="0"/>
        <c:axId val="1883864400"/>
        <c:axId val="1883856720"/>
      </c:lineChart>
      <c:catAx>
        <c:axId val="188386440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1883856720"/>
        <c:crosses val="autoZero"/>
        <c:auto val="1"/>
        <c:lblAlgn val="ctr"/>
        <c:lblOffset val="100"/>
        <c:noMultiLvlLbl val="0"/>
      </c:catAx>
      <c:valAx>
        <c:axId val="188385672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188386440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b="0">
          <a:solidFill>
            <a:schemeClr val="tx1"/>
          </a:solidFill>
          <a:latin typeface="Poppins" panose="00000500000000000000" pitchFamily="2" charset="0"/>
          <a:cs typeface="Poppins" panose="00000500000000000000" pitchFamily="2"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[QUARTERLYREPORT.xlsx]TRANSACTION CHANNEL!PivotTable7</c:name>
    <c:fmtId val="-1"/>
  </c:pivotSource>
  <c:chart>
    <c:title>
      <c:tx>
        <c:rich>
          <a:bodyPr rot="0" spcFirstLastPara="1" vertOverflow="ellipsis" vert="horz" wrap="square" anchor="ctr" anchorCtr="1"/>
          <a:lstStyle/>
          <a:p>
            <a:pPr>
              <a:defRPr sz="1200" b="0" i="0" u="none" strike="noStrike" kern="1200" baseline="0">
                <a:solidFill>
                  <a:schemeClr val="tx1"/>
                </a:solidFill>
                <a:latin typeface="Poppins" panose="00000500000000000000" pitchFamily="2" charset="0"/>
                <a:ea typeface="+mn-ea"/>
                <a:cs typeface="Poppins" panose="00000500000000000000" pitchFamily="2" charset="0"/>
              </a:defRPr>
            </a:pPr>
            <a:r>
              <a:rPr lang="en-US" spc="300" dirty="0"/>
              <a:t>TOP 5 QUATERLY TRANSACTION</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'TRANSACTION CHANNEL'!$B$3</c:f>
              <c:strCache>
                <c:ptCount val="1"/>
                <c:pt idx="0">
                  <c:v>TOTAL AMOUNT</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'TRANSACTION CHANNEL'!$A$4:$A$9</c:f>
              <c:strCache>
                <c:ptCount val="5"/>
                <c:pt idx="0">
                  <c:v>NIP Credit Request Transaction</c:v>
                </c:pt>
                <c:pt idx="1">
                  <c:v>EazyPay Outward Funds FT</c:v>
                </c:pt>
                <c:pt idx="2">
                  <c:v>BillsPayment-</c:v>
                </c:pt>
                <c:pt idx="3">
                  <c:v>NIP Credit</c:v>
                </c:pt>
                <c:pt idx="4">
                  <c:v>BillsPayment- EKEDC PREPAID4390157
3840/top up</c:v>
                </c:pt>
              </c:strCache>
            </c:strRef>
          </c:cat>
          <c:val>
            <c:numRef>
              <c:f>'TRANSACTION CHANNEL'!$B$4:$B$9</c:f>
              <c:numCache>
                <c:formatCode>General</c:formatCode>
                <c:ptCount val="5"/>
                <c:pt idx="0">
                  <c:v>142000</c:v>
                </c:pt>
                <c:pt idx="1">
                  <c:v>34100</c:v>
                </c:pt>
                <c:pt idx="2">
                  <c:v>10400</c:v>
                </c:pt>
                <c:pt idx="3">
                  <c:v>7000</c:v>
                </c:pt>
                <c:pt idx="4">
                  <c:v>5000</c:v>
                </c:pt>
              </c:numCache>
            </c:numRef>
          </c:val>
          <c:smooth val="0"/>
          <c:extLst>
            <c:ext xmlns:c16="http://schemas.microsoft.com/office/drawing/2014/chart" uri="{C3380CC4-5D6E-409C-BE32-E72D297353CC}">
              <c16:uniqueId val="{00000000-EDAB-421D-90E3-51D89B12D09E}"/>
            </c:ext>
          </c:extLst>
        </c:ser>
        <c:dLbls>
          <c:dLblPos val="t"/>
          <c:showLegendKey val="0"/>
          <c:showVal val="1"/>
          <c:showCatName val="0"/>
          <c:showSerName val="0"/>
          <c:showPercent val="0"/>
          <c:showBubbleSize val="0"/>
        </c:dLbls>
        <c:marker val="1"/>
        <c:smooth val="0"/>
        <c:axId val="1787022640"/>
        <c:axId val="1787045200"/>
      </c:lineChart>
      <c:lineChart>
        <c:grouping val="standard"/>
        <c:varyColors val="0"/>
        <c:ser>
          <c:idx val="1"/>
          <c:order val="1"/>
          <c:tx>
            <c:strRef>
              <c:f>'TRANSACTION CHANNEL'!$C$3</c:f>
              <c:strCache>
                <c:ptCount val="1"/>
                <c:pt idx="0">
                  <c:v>Sum of Fee</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'TRANSACTION CHANNEL'!$A$4:$A$9</c:f>
              <c:strCache>
                <c:ptCount val="5"/>
                <c:pt idx="0">
                  <c:v>NIP Credit Request Transaction</c:v>
                </c:pt>
                <c:pt idx="1">
                  <c:v>EazyPay Outward Funds FT</c:v>
                </c:pt>
                <c:pt idx="2">
                  <c:v>BillsPayment-</c:v>
                </c:pt>
                <c:pt idx="3">
                  <c:v>NIP Credit</c:v>
                </c:pt>
                <c:pt idx="4">
                  <c:v>BillsPayment- EKEDC PREPAID4390157
3840/top up</c:v>
                </c:pt>
              </c:strCache>
            </c:strRef>
          </c:cat>
          <c:val>
            <c:numRef>
              <c:f>'TRANSACTION CHANNEL'!$C$4:$C$9</c:f>
              <c:numCache>
                <c:formatCode>General</c:formatCode>
                <c:ptCount val="5"/>
                <c:pt idx="0">
                  <c:v>0</c:v>
                </c:pt>
                <c:pt idx="1">
                  <c:v>268.76</c:v>
                </c:pt>
                <c:pt idx="2">
                  <c:v>100</c:v>
                </c:pt>
                <c:pt idx="3">
                  <c:v>0</c:v>
                </c:pt>
                <c:pt idx="4">
                  <c:v>100</c:v>
                </c:pt>
              </c:numCache>
            </c:numRef>
          </c:val>
          <c:smooth val="0"/>
          <c:extLst>
            <c:ext xmlns:c16="http://schemas.microsoft.com/office/drawing/2014/chart" uri="{C3380CC4-5D6E-409C-BE32-E72D297353CC}">
              <c16:uniqueId val="{00000001-EDAB-421D-90E3-51D89B12D09E}"/>
            </c:ext>
          </c:extLst>
        </c:ser>
        <c:dLbls>
          <c:showLegendKey val="0"/>
          <c:showVal val="0"/>
          <c:showCatName val="0"/>
          <c:showSerName val="0"/>
          <c:showPercent val="0"/>
          <c:showBubbleSize val="0"/>
        </c:dLbls>
        <c:marker val="1"/>
        <c:smooth val="0"/>
        <c:axId val="1408112272"/>
        <c:axId val="1408110352"/>
      </c:lineChart>
      <c:catAx>
        <c:axId val="178702264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1787045200"/>
        <c:crosses val="autoZero"/>
        <c:auto val="1"/>
        <c:lblAlgn val="ctr"/>
        <c:lblOffset val="100"/>
        <c:noMultiLvlLbl val="0"/>
      </c:catAx>
      <c:valAx>
        <c:axId val="17870452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1787022640"/>
        <c:crosses val="autoZero"/>
        <c:crossBetween val="between"/>
      </c:valAx>
      <c:valAx>
        <c:axId val="1408110352"/>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1408112272"/>
        <c:crosses val="max"/>
        <c:crossBetween val="between"/>
      </c:valAx>
      <c:catAx>
        <c:axId val="1408112272"/>
        <c:scaling>
          <c:orientation val="minMax"/>
        </c:scaling>
        <c:delete val="1"/>
        <c:axPos val="b"/>
        <c:numFmt formatCode="General" sourceLinked="1"/>
        <c:majorTickMark val="out"/>
        <c:minorTickMark val="none"/>
        <c:tickLblPos val="nextTo"/>
        <c:crossAx val="1408110352"/>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b="0">
          <a:solidFill>
            <a:schemeClr val="tx1"/>
          </a:solidFill>
          <a:latin typeface="Poppins" panose="00000500000000000000" pitchFamily="2" charset="0"/>
          <a:cs typeface="Poppins" panose="00000500000000000000" pitchFamily="2" charset="0"/>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[QUARTERLYREPORT.xlsx]Sheet1!PivotTable1</c:name>
    <c:fmtId val="-1"/>
  </c:pivotSource>
  <c:chart>
    <c:title>
      <c:tx>
        <c:rich>
          <a:bodyPr rot="0" spcFirstLastPara="1" vertOverflow="ellipsis" vert="horz" wrap="square" anchor="ctr" anchorCtr="1"/>
          <a:lstStyle/>
          <a:p>
            <a:pPr>
              <a:defRPr sz="1000" b="0" i="0" u="none" strike="noStrike" kern="1200" spc="300" baseline="0">
                <a:solidFill>
                  <a:sysClr val="windowText" lastClr="000000"/>
                </a:solidFill>
                <a:latin typeface="Poppins" panose="00000500000000000000" pitchFamily="2" charset="0"/>
                <a:ea typeface="+mn-ea"/>
                <a:cs typeface="Poppins" panose="00000500000000000000" pitchFamily="2" charset="0"/>
              </a:defRPr>
            </a:pPr>
            <a:r>
              <a:rPr lang="en-US" sz="1000" spc="300" dirty="0"/>
              <a:t>TOTAL  TRANSACTION BY  BRANCH</a:t>
            </a:r>
          </a:p>
        </c:rich>
      </c:tx>
      <c:overlay val="0"/>
      <c:spPr>
        <a:noFill/>
        <a:ln>
          <a:noFill/>
        </a:ln>
        <a:effectLst/>
      </c:spPr>
      <c:txPr>
        <a:bodyPr rot="0" spcFirstLastPara="1" vertOverflow="ellipsis" vert="horz" wrap="square" anchor="ctr" anchorCtr="1"/>
        <a:lstStyle/>
        <a:p>
          <a:pPr>
            <a:defRPr sz="1000" b="0" i="0" u="none" strike="noStrike" kern="1200" spc="300" baseline="0">
              <a:solidFill>
                <a:sysClr val="windowText" lastClr="000000"/>
              </a:solidFill>
              <a:latin typeface="Poppins" panose="00000500000000000000" pitchFamily="2" charset="0"/>
              <a:ea typeface="+mn-ea"/>
              <a:cs typeface="Poppins" panose="00000500000000000000" pitchFamily="2" charset="0"/>
            </a:defRPr>
          </a:pPr>
          <a:endParaRPr lang="en-US"/>
        </a:p>
      </c:txPr>
    </c:title>
    <c:autoTitleDeleted val="0"/>
    <c:pivotFmts>
      <c:pivotFmt>
        <c:idx val="0"/>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0000"/>
          </a:solidFill>
          <a:ln>
            <a:noFill/>
          </a:ln>
          <a:effectLst/>
        </c:spPr>
      </c:pivotFmt>
      <c:pivotFmt>
        <c:idx val="3"/>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0000"/>
          </a:solidFill>
          <a:ln>
            <a:noFill/>
          </a:ln>
          <a:effectLst/>
        </c:spPr>
      </c:pivotFmt>
      <c:pivotFmt>
        <c:idx val="5"/>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0000"/>
          </a:solidFill>
          <a:ln>
            <a:noFill/>
          </a:ln>
          <a:effectLst/>
        </c:spPr>
      </c:pivotFmt>
    </c:pivotFmts>
    <c:plotArea>
      <c:layout/>
      <c:barChart>
        <c:barDir val="col"/>
        <c:grouping val="clustered"/>
        <c:varyColors val="0"/>
        <c:ser>
          <c:idx val="0"/>
          <c:order val="0"/>
          <c:tx>
            <c:strRef>
              <c:f>Sheet1!$B$1</c:f>
              <c:strCache>
                <c:ptCount val="1"/>
                <c:pt idx="0">
                  <c:v>Total</c:v>
                </c:pt>
              </c:strCache>
            </c:strRef>
          </c:tx>
          <c:spPr>
            <a:solidFill>
              <a:srgbClr val="C0000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6E17-4979-A31B-77C30E80C4D8}"/>
              </c:ext>
            </c:extLst>
          </c:dPt>
          <c:dPt>
            <c:idx val="1"/>
            <c:invertIfNegative val="0"/>
            <c:bubble3D val="0"/>
            <c:spPr>
              <a:solidFill>
                <a:schemeClr val="accent1">
                  <a:lumMod val="75000"/>
                </a:schemeClr>
              </a:solidFill>
              <a:ln>
                <a:noFill/>
              </a:ln>
              <a:effectLst/>
            </c:spPr>
            <c:extLst>
              <c:ext xmlns:c16="http://schemas.microsoft.com/office/drawing/2014/chart" uri="{C3380CC4-5D6E-409C-BE32-E72D297353CC}">
                <c16:uniqueId val="{00000003-6E17-4979-A31B-77C30E80C4D8}"/>
              </c:ext>
            </c:extLst>
          </c:dPt>
          <c:cat>
            <c:strRef>
              <c:f>Sheet1!$A$2:$A$4</c:f>
              <c:strCache>
                <c:ptCount val="2"/>
                <c:pt idx="0">
                  <c:v>Head Office</c:v>
                </c:pt>
                <c:pt idx="1">
                  <c:v>Head Office Branch</c:v>
                </c:pt>
              </c:strCache>
            </c:strRef>
          </c:cat>
          <c:val>
            <c:numRef>
              <c:f>Sheet1!$B$2:$B$4</c:f>
              <c:numCache>
                <c:formatCode>"₦"#,##0</c:formatCode>
                <c:ptCount val="2"/>
                <c:pt idx="0">
                  <c:v>21850</c:v>
                </c:pt>
                <c:pt idx="1">
                  <c:v>187400</c:v>
                </c:pt>
              </c:numCache>
            </c:numRef>
          </c:val>
          <c:extLst>
            <c:ext xmlns:c16="http://schemas.microsoft.com/office/drawing/2014/chart" uri="{C3380CC4-5D6E-409C-BE32-E72D297353CC}">
              <c16:uniqueId val="{00000004-6E17-4979-A31B-77C30E80C4D8}"/>
            </c:ext>
          </c:extLst>
        </c:ser>
        <c:dLbls>
          <c:showLegendKey val="0"/>
          <c:showVal val="0"/>
          <c:showCatName val="0"/>
          <c:showSerName val="0"/>
          <c:showPercent val="0"/>
          <c:showBubbleSize val="0"/>
        </c:dLbls>
        <c:gapWidth val="219"/>
        <c:overlap val="-27"/>
        <c:axId val="1870396415"/>
        <c:axId val="1870375775"/>
      </c:barChart>
      <c:catAx>
        <c:axId val="1870396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crossAx val="1870375775"/>
        <c:crosses val="autoZero"/>
        <c:auto val="1"/>
        <c:lblAlgn val="ctr"/>
        <c:lblOffset val="100"/>
        <c:noMultiLvlLbl val="0"/>
      </c:catAx>
      <c:valAx>
        <c:axId val="1870375775"/>
        <c:scaling>
          <c:orientation val="minMax"/>
        </c:scaling>
        <c:delete val="0"/>
        <c:axPos val="l"/>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crossAx val="18703964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0">
          <a:solidFill>
            <a:sysClr val="windowText" lastClr="000000"/>
          </a:solidFill>
          <a:latin typeface="Poppins" panose="00000500000000000000" pitchFamily="2" charset="0"/>
          <a:cs typeface="Poppins" panose="00000500000000000000" pitchFamily="2"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[QUARTERLYREPORT.xlsx]Sheet1!PivotTable2</c:name>
    <c:fmtId val="-1"/>
  </c:pivotSource>
  <c:chart>
    <c:title>
      <c:tx>
        <c:rich>
          <a:bodyPr rot="0" spcFirstLastPara="1" vertOverflow="ellipsis" vert="horz" wrap="square" anchor="ctr" anchorCtr="1"/>
          <a:lstStyle/>
          <a:p>
            <a:pPr>
              <a:defRPr sz="1400" b="0" i="0" u="none" strike="noStrike" kern="1200" spc="0" baseline="0">
                <a:solidFill>
                  <a:sysClr val="windowText" lastClr="000000"/>
                </a:solidFill>
                <a:latin typeface="Poppins" panose="00000500000000000000" pitchFamily="2" charset="0"/>
                <a:ea typeface="+mn-ea"/>
                <a:cs typeface="Poppins" panose="00000500000000000000" pitchFamily="2" charset="0"/>
              </a:defRPr>
            </a:pPr>
            <a:r>
              <a:rPr lang="en-US" sz="1000" spc="300" dirty="0"/>
              <a:t>TOTAL FEE BY BRANCH</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Poppins" panose="00000500000000000000" pitchFamily="2" charset="0"/>
              <a:ea typeface="+mn-ea"/>
              <a:cs typeface="Poppins" panose="00000500000000000000" pitchFamily="2" charset="0"/>
            </a:defRPr>
          </a:pPr>
          <a:endParaRPr lang="en-US"/>
        </a:p>
      </c:txPr>
    </c:title>
    <c:autoTitleDeleted val="0"/>
    <c:pivotFmts>
      <c:pivotFmt>
        <c:idx val="0"/>
        <c:spPr>
          <a:solidFill>
            <a:srgbClr val="92D050"/>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pivotFmt>
      <c:pivotFmt>
        <c:idx val="2"/>
        <c:spPr>
          <a:solidFill>
            <a:srgbClr val="92D050"/>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a:noFill/>
          </a:ln>
          <a:effectLst/>
        </c:spPr>
      </c:pivotFmt>
      <c:pivotFmt>
        <c:idx val="4"/>
        <c:spPr>
          <a:solidFill>
            <a:srgbClr val="92D050"/>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0000"/>
          </a:solidFill>
          <a:ln>
            <a:noFill/>
          </a:ln>
          <a:effectLst/>
        </c:spPr>
      </c:pivotFmt>
    </c:pivotFmts>
    <c:plotArea>
      <c:layout/>
      <c:barChart>
        <c:barDir val="bar"/>
        <c:grouping val="clustered"/>
        <c:varyColors val="0"/>
        <c:ser>
          <c:idx val="0"/>
          <c:order val="0"/>
          <c:tx>
            <c:strRef>
              <c:f>Sheet1!$B$13</c:f>
              <c:strCache>
                <c:ptCount val="1"/>
                <c:pt idx="0">
                  <c:v>Total</c:v>
                </c:pt>
              </c:strCache>
            </c:strRef>
          </c:tx>
          <c:spPr>
            <a:solidFill>
              <a:schemeClr val="accent1">
                <a:lumMod val="75000"/>
              </a:schemeClr>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85D9-4FD9-A842-0457C2D11416}"/>
              </c:ext>
            </c:extLst>
          </c:dPt>
          <c:dLbls>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Sheet1!$A$14:$A$16</c:f>
              <c:strCache>
                <c:ptCount val="2"/>
                <c:pt idx="0">
                  <c:v>Head Office</c:v>
                </c:pt>
                <c:pt idx="1">
                  <c:v>Head Office Branch</c:v>
                </c:pt>
              </c:strCache>
            </c:strRef>
          </c:cat>
          <c:val>
            <c:numRef>
              <c:f>Sheet1!$B$14:$B$16</c:f>
              <c:numCache>
                <c:formatCode>"₦"#,##0</c:formatCode>
                <c:ptCount val="2"/>
                <c:pt idx="0">
                  <c:v>110.75</c:v>
                </c:pt>
                <c:pt idx="1">
                  <c:v>468.76</c:v>
                </c:pt>
              </c:numCache>
            </c:numRef>
          </c:val>
          <c:extLst>
            <c:ext xmlns:c16="http://schemas.microsoft.com/office/drawing/2014/chart" uri="{C3380CC4-5D6E-409C-BE32-E72D297353CC}">
              <c16:uniqueId val="{00000002-85D9-4FD9-A842-0457C2D11416}"/>
            </c:ext>
          </c:extLst>
        </c:ser>
        <c:dLbls>
          <c:dLblPos val="outEnd"/>
          <c:showLegendKey val="0"/>
          <c:showVal val="1"/>
          <c:showCatName val="0"/>
          <c:showSerName val="0"/>
          <c:showPercent val="0"/>
          <c:showBubbleSize val="0"/>
        </c:dLbls>
        <c:gapWidth val="182"/>
        <c:axId val="1870400735"/>
        <c:axId val="1870406495"/>
      </c:barChart>
      <c:catAx>
        <c:axId val="187040073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crossAx val="1870406495"/>
        <c:crosses val="autoZero"/>
        <c:auto val="1"/>
        <c:lblAlgn val="ctr"/>
        <c:lblOffset val="100"/>
        <c:noMultiLvlLbl val="0"/>
      </c:catAx>
      <c:valAx>
        <c:axId val="1870406495"/>
        <c:scaling>
          <c:orientation val="minMax"/>
        </c:scaling>
        <c:delete val="0"/>
        <c:axPos val="b"/>
        <c:numFmt formatCode="&quot;₦&quot;#,##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crossAx val="18704007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0">
          <a:solidFill>
            <a:sysClr val="windowText" lastClr="000000"/>
          </a:solidFill>
          <a:latin typeface="Poppins" panose="00000500000000000000" pitchFamily="2" charset="0"/>
          <a:cs typeface="Poppins" panose="00000500000000000000" pitchFamily="2"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3DDE-8618-A032-E71D-2E165D7B2B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993C32-61A8-0F67-3923-841AF2742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C3EAA8-702A-3323-74C2-B026F786E031}"/>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5" name="Footer Placeholder 4">
            <a:extLst>
              <a:ext uri="{FF2B5EF4-FFF2-40B4-BE49-F238E27FC236}">
                <a16:creationId xmlns:a16="http://schemas.microsoft.com/office/drawing/2014/main" id="{D5ADA545-7966-EF80-D36E-D38AB32F96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210DA-BE8E-2AE6-32CC-9014AAF2759B}"/>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27320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8F35-F9AE-1E08-F521-53ECCB8EE2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36ABCA-B459-90DC-314B-F9D06B7182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52F715-D27C-F178-7A65-9A5C2B01FA55}"/>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5" name="Footer Placeholder 4">
            <a:extLst>
              <a:ext uri="{FF2B5EF4-FFF2-40B4-BE49-F238E27FC236}">
                <a16:creationId xmlns:a16="http://schemas.microsoft.com/office/drawing/2014/main" id="{C5BA8C6E-51FD-F96C-EB7B-84317A994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80C1DD-7FE9-FF88-2462-3FA219F25BF6}"/>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463666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2552-82A6-D099-0698-8FF17DBD96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5CF9E3-56C0-CA5C-683C-66C7EAB2EE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F61A07-C072-A3D5-4EA9-CDBF67C9466E}"/>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5" name="Footer Placeholder 4">
            <a:extLst>
              <a:ext uri="{FF2B5EF4-FFF2-40B4-BE49-F238E27FC236}">
                <a16:creationId xmlns:a16="http://schemas.microsoft.com/office/drawing/2014/main" id="{C95E87B9-3BC0-B3A6-3F02-CF25BB2657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B8200-E19E-FF3C-6C0E-EA08868CB005}"/>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795654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DEB6-56F9-F539-2118-6892CC6CD7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CA28A5-C18D-CDF9-9224-C2683FFC3A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576135-C6D4-1404-7AD5-B11449B1DB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F4A6BB-2D85-3CCE-6BE7-AEBAEDF88207}"/>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6" name="Footer Placeholder 5">
            <a:extLst>
              <a:ext uri="{FF2B5EF4-FFF2-40B4-BE49-F238E27FC236}">
                <a16:creationId xmlns:a16="http://schemas.microsoft.com/office/drawing/2014/main" id="{DDE7A471-AEA3-3B5C-E5F5-B00EB63A2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4DDBC-F797-CF11-4A3C-A99EE913374B}"/>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763262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3D7CF-44DC-F540-4E4E-99422574F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82C4D0-0CEC-B4EB-E566-B0E68ABBD9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703143-0A56-F31E-8E34-CBC0F09183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5A025B-9417-20FA-0298-86CCB05588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04DCA3-410C-CB49-34B9-FF432F5F01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B0D423-792C-BB22-461B-5A16D0157855}"/>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8" name="Footer Placeholder 7">
            <a:extLst>
              <a:ext uri="{FF2B5EF4-FFF2-40B4-BE49-F238E27FC236}">
                <a16:creationId xmlns:a16="http://schemas.microsoft.com/office/drawing/2014/main" id="{B9631305-D523-C25B-0233-EBE97A0382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3D61A9-7615-E625-809E-25A3043E97E1}"/>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478431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62632-A9A9-2AB9-8B7B-4DDA335FF2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F2513F-FBC8-2355-4708-00CC934781C1}"/>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4" name="Footer Placeholder 3">
            <a:extLst>
              <a:ext uri="{FF2B5EF4-FFF2-40B4-BE49-F238E27FC236}">
                <a16:creationId xmlns:a16="http://schemas.microsoft.com/office/drawing/2014/main" id="{4BAADC03-0F43-A0B1-44A6-87C47468F0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80F4F-4769-4B98-D505-0A84EDFF9A28}"/>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3000905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407424-7043-012E-ADCC-27CB1C4CCF9E}"/>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3" name="Footer Placeholder 2">
            <a:extLst>
              <a:ext uri="{FF2B5EF4-FFF2-40B4-BE49-F238E27FC236}">
                <a16:creationId xmlns:a16="http://schemas.microsoft.com/office/drawing/2014/main" id="{0B855804-2E0B-CD60-2910-CEE722F63C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B68A5C-7F30-DFC6-255D-F1AE2F995FAD}"/>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3016301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A6AA-2D52-5E50-571B-9D0B826045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141DD4-D270-409D-5BE9-35D30649A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1DE356-BBB2-CA7D-7573-66895ACA7C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9EAB78-8953-746A-8891-1230879B4DD8}"/>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6" name="Footer Placeholder 5">
            <a:extLst>
              <a:ext uri="{FF2B5EF4-FFF2-40B4-BE49-F238E27FC236}">
                <a16:creationId xmlns:a16="http://schemas.microsoft.com/office/drawing/2014/main" id="{F9FB0E96-1A5A-9631-F1FB-C4FEE83A9D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D2B775-6527-85C0-3798-BD2458708354}"/>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89478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0AC8-3D4F-1676-488C-25ECB3178B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79D9F6-C3E5-9248-77D6-563C5FF64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32E408-0C6B-D4E6-2F69-5C4E395C7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5FA7A-735B-5E93-197B-60A403A29959}"/>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6" name="Footer Placeholder 5">
            <a:extLst>
              <a:ext uri="{FF2B5EF4-FFF2-40B4-BE49-F238E27FC236}">
                <a16:creationId xmlns:a16="http://schemas.microsoft.com/office/drawing/2014/main" id="{F8CB7CF5-3E73-E06D-6219-5251CE8AD3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74DD-82DB-EC31-7AE3-94F1A73D6370}"/>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5699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5CB29-E4A0-36DC-E438-2B9C76589F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BA3CB8-E894-18D4-C08A-2656627893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AB0F9-89A5-4466-F2A6-BFF579050B80}"/>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5" name="Footer Placeholder 4">
            <a:extLst>
              <a:ext uri="{FF2B5EF4-FFF2-40B4-BE49-F238E27FC236}">
                <a16:creationId xmlns:a16="http://schemas.microsoft.com/office/drawing/2014/main" id="{E12BB096-AA63-A073-4D68-E97F9A25AD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B5350-97BE-BBD9-55B0-7B6632E77813}"/>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633720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79A6DC-288C-2EFA-AFF3-15D22BF00F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2FE840-52EB-1F81-CE71-954C8456E0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B7FE5C-CFB5-C18E-8706-01E01B8E2FE8}"/>
              </a:ext>
            </a:extLst>
          </p:cNvPr>
          <p:cNvSpPr>
            <a:spLocks noGrp="1"/>
          </p:cNvSpPr>
          <p:nvPr>
            <p:ph type="dt" sz="half" idx="10"/>
          </p:nvPr>
        </p:nvSpPr>
        <p:spPr/>
        <p:txBody>
          <a:bodyPr/>
          <a:lstStyle/>
          <a:p>
            <a:fld id="{9E5B2241-4B6A-40A0-A19A-24CEF249587A}" type="datetimeFigureOut">
              <a:rPr lang="en-US" smtClean="0"/>
              <a:t>4/21/2025</a:t>
            </a:fld>
            <a:endParaRPr lang="en-US"/>
          </a:p>
        </p:txBody>
      </p:sp>
      <p:sp>
        <p:nvSpPr>
          <p:cNvPr id="5" name="Footer Placeholder 4">
            <a:extLst>
              <a:ext uri="{FF2B5EF4-FFF2-40B4-BE49-F238E27FC236}">
                <a16:creationId xmlns:a16="http://schemas.microsoft.com/office/drawing/2014/main" id="{2C85C379-A33C-D5F3-4A5E-16CA94B76F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48258-E2A8-86C0-9471-762CEB4FF3BE}"/>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917176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9976F2-C5BB-01DD-C97D-D7A582D23A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46C452-7148-A7C7-450E-67B3E8D8BF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95A8C-6883-D023-944D-85CAF2A768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B2241-4B6A-40A0-A19A-24CEF249587A}" type="datetimeFigureOut">
              <a:rPr lang="en-US" smtClean="0"/>
              <a:t>4/21/2025</a:t>
            </a:fld>
            <a:endParaRPr lang="en-US"/>
          </a:p>
        </p:txBody>
      </p:sp>
      <p:sp>
        <p:nvSpPr>
          <p:cNvPr id="5" name="Footer Placeholder 4">
            <a:extLst>
              <a:ext uri="{FF2B5EF4-FFF2-40B4-BE49-F238E27FC236}">
                <a16:creationId xmlns:a16="http://schemas.microsoft.com/office/drawing/2014/main" id="{490E2C5D-1C95-DA34-A70D-1BF277E48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523265-462F-F15A-2D9B-7804951076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D7870E-DABC-43C5-B070-29DD496D6162}" type="slidenum">
              <a:rPr lang="en-US" smtClean="0"/>
              <a:t>‹#›</a:t>
            </a:fld>
            <a:endParaRPr lang="en-US"/>
          </a:p>
        </p:txBody>
      </p:sp>
    </p:spTree>
    <p:extLst>
      <p:ext uri="{BB962C8B-B14F-4D97-AF65-F5344CB8AC3E}">
        <p14:creationId xmlns:p14="http://schemas.microsoft.com/office/powerpoint/2010/main" val="201385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8A2ED35-BCD0-1CAA-7E03-1541DA84334D}"/>
              </a:ext>
            </a:extLst>
          </p:cNvPr>
          <p:cNvPicPr>
            <a:picLocks noChangeAspect="1"/>
          </p:cNvPicPr>
          <p:nvPr/>
        </p:nvPicPr>
        <p:blipFill>
          <a:blip r:embed="rId2">
            <a:extLst>
              <a:ext uri="{28A0092B-C50C-407E-A947-70E740481C1C}">
                <a14:useLocalDpi xmlns:a14="http://schemas.microsoft.com/office/drawing/2010/main" val="0"/>
              </a:ext>
            </a:extLst>
          </a:blip>
          <a:srcRect t="12690" b="2020"/>
          <a:stretch/>
        </p:blipFill>
        <p:spPr>
          <a:xfrm>
            <a:off x="0" y="0"/>
            <a:ext cx="12192000" cy="6932428"/>
          </a:xfrm>
          <a:prstGeom prst="rect">
            <a:avLst/>
          </a:prstGeom>
          <a:ln>
            <a:noFill/>
          </a:ln>
          <a:effectLst>
            <a:outerShdw blurRad="292100" dist="139700" dir="2700000" algn="tl" rotWithShape="0">
              <a:srgbClr val="333333">
                <a:alpha val="65000"/>
              </a:srgbClr>
            </a:outerShdw>
          </a:effectLst>
        </p:spPr>
      </p:pic>
      <p:sp>
        <p:nvSpPr>
          <p:cNvPr id="15" name="Rectangle 14">
            <a:extLst>
              <a:ext uri="{FF2B5EF4-FFF2-40B4-BE49-F238E27FC236}">
                <a16:creationId xmlns:a16="http://schemas.microsoft.com/office/drawing/2014/main" id="{B5476E42-04FD-2913-8677-05967C64C784}"/>
              </a:ext>
            </a:extLst>
          </p:cNvPr>
          <p:cNvSpPr/>
          <p:nvPr/>
        </p:nvSpPr>
        <p:spPr>
          <a:xfrm>
            <a:off x="0" y="2586981"/>
            <a:ext cx="12192000" cy="22136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238F7BD3-4C23-D1D5-94B1-9E563B3A9AC3}"/>
              </a:ext>
            </a:extLst>
          </p:cNvPr>
          <p:cNvSpPr txBox="1"/>
          <p:nvPr/>
        </p:nvSpPr>
        <p:spPr>
          <a:xfrm>
            <a:off x="4590357" y="3755899"/>
            <a:ext cx="4476307" cy="307777"/>
          </a:xfrm>
          <a:prstGeom prst="rect">
            <a:avLst/>
          </a:prstGeom>
          <a:noFill/>
        </p:spPr>
        <p:txBody>
          <a:bodyPr wrap="square">
            <a:spAutoFit/>
          </a:bodyPr>
          <a:lstStyle/>
          <a:p>
            <a:r>
              <a:rPr lang="en-US" sz="1400" spc="600" dirty="0">
                <a:solidFill>
                  <a:srgbClr val="1B1464"/>
                </a:solidFill>
                <a:latin typeface="Poppins" panose="00000500000000000000" pitchFamily="2" charset="0"/>
                <a:cs typeface="Poppins" panose="00000500000000000000" pitchFamily="2" charset="0"/>
              </a:rPr>
              <a:t>1ST QUARTER 2025 DIGITAL</a:t>
            </a:r>
            <a:endParaRPr lang="en-GB" sz="1400" spc="600" dirty="0">
              <a:solidFill>
                <a:srgbClr val="1B1464"/>
              </a:solidFill>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14A87AE4-685C-D3F3-9740-B0C14115C928}"/>
              </a:ext>
            </a:extLst>
          </p:cNvPr>
          <p:cNvSpPr txBox="1"/>
          <p:nvPr/>
        </p:nvSpPr>
        <p:spPr>
          <a:xfrm>
            <a:off x="4590357" y="3277691"/>
            <a:ext cx="5159699" cy="461665"/>
          </a:xfrm>
          <a:prstGeom prst="rect">
            <a:avLst/>
          </a:prstGeom>
          <a:noFill/>
        </p:spPr>
        <p:txBody>
          <a:bodyPr wrap="square">
            <a:spAutoFit/>
          </a:bodyPr>
          <a:lstStyle/>
          <a:p>
            <a:r>
              <a:rPr lang="en-US" sz="2400" b="1" spc="300" dirty="0">
                <a:solidFill>
                  <a:srgbClr val="1B1464"/>
                </a:solidFill>
                <a:latin typeface="Poppins" panose="00000500000000000000" pitchFamily="2" charset="0"/>
                <a:cs typeface="Poppins" panose="00000500000000000000" pitchFamily="2" charset="0"/>
              </a:rPr>
              <a:t>Banking Financial Report</a:t>
            </a:r>
            <a:endParaRPr lang="en-GB" sz="2400" b="1" spc="300" dirty="0">
              <a:solidFill>
                <a:srgbClr val="1B1464"/>
              </a:solidFill>
              <a:latin typeface="Poppins" panose="00000500000000000000" pitchFamily="2" charset="0"/>
              <a:cs typeface="Poppins" panose="00000500000000000000" pitchFamily="2" charset="0"/>
            </a:endParaRPr>
          </a:p>
        </p:txBody>
      </p:sp>
      <p:pic>
        <p:nvPicPr>
          <p:cNvPr id="7" name="Picture 6" descr="A logo with text on it&#10;&#10;AI-generated content may be incorrect.">
            <a:extLst>
              <a:ext uri="{FF2B5EF4-FFF2-40B4-BE49-F238E27FC236}">
                <a16:creationId xmlns:a16="http://schemas.microsoft.com/office/drawing/2014/main" id="{B09DF57D-BCF1-2C4C-7C7C-A7F759953B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86981"/>
            <a:ext cx="4476307" cy="2213674"/>
          </a:xfrm>
          <a:prstGeom prst="rect">
            <a:avLst/>
          </a:prstGeom>
        </p:spPr>
      </p:pic>
      <p:cxnSp>
        <p:nvCxnSpPr>
          <p:cNvPr id="9" name="Straight Connector 8">
            <a:extLst>
              <a:ext uri="{FF2B5EF4-FFF2-40B4-BE49-F238E27FC236}">
                <a16:creationId xmlns:a16="http://schemas.microsoft.com/office/drawing/2014/main" id="{77F00676-0C98-6A67-C434-BAECA914A04A}"/>
              </a:ext>
            </a:extLst>
          </p:cNvPr>
          <p:cNvCxnSpPr/>
          <p:nvPr/>
        </p:nvCxnSpPr>
        <p:spPr>
          <a:xfrm flipV="1">
            <a:off x="4590357" y="3747627"/>
            <a:ext cx="468000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71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blue and white triangle&#10;&#10;AI-generated content may be incorrect.">
            <a:extLst>
              <a:ext uri="{FF2B5EF4-FFF2-40B4-BE49-F238E27FC236}">
                <a16:creationId xmlns:a16="http://schemas.microsoft.com/office/drawing/2014/main" id="{9816391B-78C3-E19E-0795-C680515003A6}"/>
              </a:ext>
            </a:extLst>
          </p:cNvPr>
          <p:cNvPicPr>
            <a:picLocks noChangeAspect="1"/>
          </p:cNvPicPr>
          <p:nvPr/>
        </p:nvPicPr>
        <p:blipFill>
          <a:blip r:embed="rId2">
            <a:extLst>
              <a:ext uri="{28A0092B-C50C-407E-A947-70E740481C1C}">
                <a14:useLocalDpi xmlns:a14="http://schemas.microsoft.com/office/drawing/2010/main" val="0"/>
              </a:ext>
            </a:extLst>
          </a:blip>
          <a:srcRect l="9944" b="11351"/>
          <a:stretch/>
        </p:blipFill>
        <p:spPr>
          <a:xfrm>
            <a:off x="0" y="-1"/>
            <a:ext cx="12192000" cy="6858001"/>
          </a:xfrm>
          <a:prstGeom prst="rect">
            <a:avLst/>
          </a:prstGeom>
        </p:spPr>
      </p:pic>
      <p:sp>
        <p:nvSpPr>
          <p:cNvPr id="5" name="TextBox 4">
            <a:extLst>
              <a:ext uri="{FF2B5EF4-FFF2-40B4-BE49-F238E27FC236}">
                <a16:creationId xmlns:a16="http://schemas.microsoft.com/office/drawing/2014/main" id="{549C567E-0FB5-B3CF-4254-572AEFB279B2}"/>
              </a:ext>
            </a:extLst>
          </p:cNvPr>
          <p:cNvSpPr txBox="1"/>
          <p:nvPr/>
        </p:nvSpPr>
        <p:spPr>
          <a:xfrm>
            <a:off x="5295900" y="1522946"/>
            <a:ext cx="6096000" cy="830997"/>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This report provides insights into all transactions carried out in the first quarter of the year using the new bank mobile application. The analysis covers various transaction types including interbank transfers, airtime purchases, data subscriptions, and utility bill payments, among others.</a:t>
            </a:r>
          </a:p>
        </p:txBody>
      </p:sp>
      <p:sp>
        <p:nvSpPr>
          <p:cNvPr id="7" name="TextBox 6">
            <a:extLst>
              <a:ext uri="{FF2B5EF4-FFF2-40B4-BE49-F238E27FC236}">
                <a16:creationId xmlns:a16="http://schemas.microsoft.com/office/drawing/2014/main" id="{EC1DB730-E1CC-56BF-5C01-091429AFFCB1}"/>
              </a:ext>
            </a:extLst>
          </p:cNvPr>
          <p:cNvSpPr txBox="1"/>
          <p:nvPr/>
        </p:nvSpPr>
        <p:spPr>
          <a:xfrm>
            <a:off x="9309100" y="832503"/>
            <a:ext cx="1833821" cy="369332"/>
          </a:xfrm>
          <a:prstGeom prst="rect">
            <a:avLst/>
          </a:prstGeom>
          <a:noFill/>
        </p:spPr>
        <p:txBody>
          <a:bodyPr wrap="square">
            <a:spAutoFit/>
          </a:bodyPr>
          <a:lstStyle/>
          <a:p>
            <a:pPr algn="just"/>
            <a:r>
              <a:rPr lang="en-US" sz="1800" spc="300" dirty="0">
                <a:solidFill>
                  <a:srgbClr val="142342"/>
                </a:solidFill>
                <a:latin typeface="Poppins" panose="00000500000000000000" pitchFamily="2" charset="0"/>
                <a:cs typeface="Poppins" panose="00000500000000000000" pitchFamily="2" charset="0"/>
              </a:rPr>
              <a:t>OVERVIEW</a:t>
            </a:r>
          </a:p>
        </p:txBody>
      </p:sp>
      <p:sp>
        <p:nvSpPr>
          <p:cNvPr id="8" name="TextBox 7">
            <a:extLst>
              <a:ext uri="{FF2B5EF4-FFF2-40B4-BE49-F238E27FC236}">
                <a16:creationId xmlns:a16="http://schemas.microsoft.com/office/drawing/2014/main" id="{0BB52D01-7484-BEF2-7CD2-BC467772CFA8}"/>
              </a:ext>
            </a:extLst>
          </p:cNvPr>
          <p:cNvSpPr txBox="1"/>
          <p:nvPr/>
        </p:nvSpPr>
        <p:spPr>
          <a:xfrm>
            <a:off x="5295900" y="2657398"/>
            <a:ext cx="6096000" cy="2677656"/>
          </a:xfrm>
          <a:prstGeom prst="rect">
            <a:avLst/>
          </a:prstGeom>
          <a:noFill/>
        </p:spPr>
        <p:txBody>
          <a:bodyPr wrap="square">
            <a:spAutoFit/>
          </a:bodyPr>
          <a:lstStyle/>
          <a:p>
            <a:pPr algn="just"/>
            <a:r>
              <a:rPr lang="en-US" sz="1200" b="1" dirty="0">
                <a:solidFill>
                  <a:srgbClr val="142342"/>
                </a:solidFill>
                <a:latin typeface="Poppins" panose="00000500000000000000" pitchFamily="2" charset="0"/>
                <a:cs typeface="Poppins" panose="00000500000000000000" pitchFamily="2" charset="0"/>
              </a:rPr>
              <a:t>Objective of the Report</a:t>
            </a:r>
          </a:p>
          <a:p>
            <a:pPr algn="just"/>
            <a:r>
              <a:rPr lang="en-US" sz="1200" dirty="0">
                <a:latin typeface="Poppins" panose="00000500000000000000" pitchFamily="2" charset="0"/>
                <a:cs typeface="Poppins" panose="00000500000000000000" pitchFamily="2" charset="0"/>
              </a:rPr>
              <a:t>The primary aim of this report is to evaluate the performance of the bank's mobile application by identifying user preferences and transactional behavior. Specifically, the objectives include:</a:t>
            </a:r>
          </a:p>
          <a:p>
            <a:pPr algn="just"/>
            <a:endParaRPr lang="en-US" sz="1200" dirty="0">
              <a:latin typeface="Poppins" panose="00000500000000000000" pitchFamily="2" charset="0"/>
              <a:cs typeface="Poppins" panose="00000500000000000000" pitchFamily="2" charset="0"/>
            </a:endParaRPr>
          </a:p>
          <a:p>
            <a:pPr algn="just"/>
            <a:r>
              <a:rPr lang="en-US" sz="1200" dirty="0">
                <a:latin typeface="Poppins" panose="00000500000000000000" pitchFamily="2" charset="0"/>
                <a:cs typeface="Poppins" panose="00000500000000000000" pitchFamily="2" charset="0"/>
              </a:rPr>
              <a:t>To determine the most and least utilized transaction types on the platform.</a:t>
            </a:r>
          </a:p>
          <a:p>
            <a:pPr algn="just"/>
            <a:endParaRPr lang="en-US" sz="1200" dirty="0">
              <a:latin typeface="Poppins" panose="00000500000000000000" pitchFamily="2" charset="0"/>
              <a:cs typeface="Poppins" panose="00000500000000000000" pitchFamily="2" charset="0"/>
            </a:endParaRPr>
          </a:p>
          <a:p>
            <a:pPr algn="just"/>
            <a:r>
              <a:rPr lang="en-US" sz="1200" dirty="0">
                <a:latin typeface="Poppins" panose="00000500000000000000" pitchFamily="2" charset="0"/>
                <a:cs typeface="Poppins" panose="00000500000000000000" pitchFamily="2" charset="0"/>
              </a:rPr>
              <a:t>To assess the overall performance and effectiveness of the mobile application.</a:t>
            </a:r>
          </a:p>
          <a:p>
            <a:pPr algn="just"/>
            <a:endParaRPr lang="en-US" sz="1200" dirty="0">
              <a:latin typeface="Poppins" panose="00000500000000000000" pitchFamily="2" charset="0"/>
              <a:cs typeface="Poppins" panose="00000500000000000000" pitchFamily="2" charset="0"/>
            </a:endParaRPr>
          </a:p>
          <a:p>
            <a:pPr algn="just"/>
            <a:r>
              <a:rPr lang="en-US" sz="1200" dirty="0">
                <a:latin typeface="Poppins" panose="00000500000000000000" pitchFamily="2" charset="0"/>
                <a:cs typeface="Poppins" panose="00000500000000000000" pitchFamily="2" charset="0"/>
              </a:rPr>
              <a:t>To provide data-driven predictions on future financial performance, including potential revenue and profit, to support strategic planning and budgeting decisions.</a:t>
            </a:r>
          </a:p>
          <a:p>
            <a:pPr algn="just"/>
            <a:endParaRPr lang="en-US" sz="1200" dirty="0">
              <a:latin typeface="Poppins" panose="00000500000000000000" pitchFamily="2" charset="0"/>
              <a:cs typeface="Poppins" panose="00000500000000000000" pitchFamily="2" charset="0"/>
            </a:endParaRPr>
          </a:p>
        </p:txBody>
      </p:sp>
      <p:pic>
        <p:nvPicPr>
          <p:cNvPr id="6" name="Picture 5" descr="A login screen with blue text and black text&#10;&#10;AI-generated content may be incorrect.">
            <a:extLst>
              <a:ext uri="{FF2B5EF4-FFF2-40B4-BE49-F238E27FC236}">
                <a16:creationId xmlns:a16="http://schemas.microsoft.com/office/drawing/2014/main" id="{CD5D085B-497D-A7B4-48CF-8B678F4BB476}"/>
              </a:ext>
            </a:extLst>
          </p:cNvPr>
          <p:cNvPicPr>
            <a:picLocks noChangeAspect="1"/>
          </p:cNvPicPr>
          <p:nvPr/>
        </p:nvPicPr>
        <p:blipFill>
          <a:blip r:embed="rId3">
            <a:extLst>
              <a:ext uri="{28A0092B-C50C-407E-A947-70E740481C1C}">
                <a14:useLocalDpi xmlns:a14="http://schemas.microsoft.com/office/drawing/2010/main" val="0"/>
              </a:ext>
            </a:extLst>
          </a:blip>
          <a:srcRect t="3748"/>
          <a:stretch/>
        </p:blipFill>
        <p:spPr>
          <a:xfrm>
            <a:off x="1411904" y="472993"/>
            <a:ext cx="2834917" cy="60219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10649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white background with geometric shapes&#10;&#10;AI-generated content may be incorrect.">
            <a:extLst>
              <a:ext uri="{FF2B5EF4-FFF2-40B4-BE49-F238E27FC236}">
                <a16:creationId xmlns:a16="http://schemas.microsoft.com/office/drawing/2014/main" id="{EFEC11E1-5513-31FE-484F-673F357AB70C}"/>
              </a:ext>
            </a:extLst>
          </p:cNvPr>
          <p:cNvPicPr>
            <a:picLocks noChangeAspect="1"/>
          </p:cNvPicPr>
          <p:nvPr/>
        </p:nvPicPr>
        <p:blipFill>
          <a:blip r:embed="rId2">
            <a:extLst>
              <a:ext uri="{28A0092B-C50C-407E-A947-70E740481C1C}">
                <a14:useLocalDpi xmlns:a14="http://schemas.microsoft.com/office/drawing/2010/main" val="0"/>
              </a:ext>
            </a:extLst>
          </a:blip>
          <a:srcRect l="15625"/>
          <a:stretch/>
        </p:blipFill>
        <p:spPr>
          <a:xfrm rot="16200000">
            <a:off x="2667000" y="-2667000"/>
            <a:ext cx="6858000" cy="12192000"/>
          </a:xfrm>
          <a:prstGeom prst="rect">
            <a:avLst/>
          </a:prstGeom>
        </p:spPr>
      </p:pic>
      <p:sp>
        <p:nvSpPr>
          <p:cNvPr id="6" name="TextBox 5">
            <a:extLst>
              <a:ext uri="{FF2B5EF4-FFF2-40B4-BE49-F238E27FC236}">
                <a16:creationId xmlns:a16="http://schemas.microsoft.com/office/drawing/2014/main" id="{AE26EACA-65F7-9DBD-36C6-7DB551F85066}"/>
              </a:ext>
            </a:extLst>
          </p:cNvPr>
          <p:cNvSpPr txBox="1"/>
          <p:nvPr/>
        </p:nvSpPr>
        <p:spPr>
          <a:xfrm>
            <a:off x="7472141" y="647844"/>
            <a:ext cx="3841824" cy="3231654"/>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Total Transactions by Day of the Week</a:t>
            </a:r>
          </a:p>
          <a:p>
            <a:pPr algn="just"/>
            <a:endParaRPr lang="en-US" sz="1200" dirty="0">
              <a:latin typeface="Poppins" panose="00000500000000000000" pitchFamily="2" charset="0"/>
              <a:cs typeface="Poppins" panose="00000500000000000000" pitchFamily="2" charset="0"/>
            </a:endParaRPr>
          </a:p>
          <a:p>
            <a:pPr algn="just"/>
            <a:r>
              <a:rPr lang="en-US" sz="1200" dirty="0">
                <a:latin typeface="Poppins" panose="00000500000000000000" pitchFamily="2" charset="0"/>
                <a:cs typeface="Poppins" panose="00000500000000000000" pitchFamily="2" charset="0"/>
              </a:rPr>
              <a:t>This  provides a breakdown of total transaction amounts and associated fees for the week. The data reflects daily activity from Monday through Sunday.</a:t>
            </a:r>
          </a:p>
          <a:p>
            <a:pPr algn="just"/>
            <a:endParaRPr lang="en-US" sz="1200" b="1" dirty="0">
              <a:latin typeface="Poppins" panose="00000500000000000000" pitchFamily="2" charset="0"/>
              <a:cs typeface="Poppins" panose="00000500000000000000" pitchFamily="2" charset="0"/>
            </a:endParaRPr>
          </a:p>
          <a:p>
            <a:pPr algn="just"/>
            <a:r>
              <a:rPr lang="en-US" sz="1200" b="1" dirty="0">
                <a:latin typeface="Poppins" panose="00000500000000000000" pitchFamily="2" charset="0"/>
                <a:cs typeface="Poppins" panose="00000500000000000000" pitchFamily="2" charset="0"/>
              </a:rPr>
              <a:t>Key Insights:</a:t>
            </a:r>
          </a:p>
          <a:p>
            <a:pPr marL="171450" indent="-171450" algn="just">
              <a:buFont typeface="Wingdings" panose="05000000000000000000" pitchFamily="2" charset="2"/>
              <a:buChar char="§"/>
            </a:pPr>
            <a:r>
              <a:rPr lang="en-US" sz="1200" dirty="0">
                <a:latin typeface="Poppins" panose="00000500000000000000" pitchFamily="2" charset="0"/>
                <a:cs typeface="Poppins" panose="00000500000000000000" pitchFamily="2" charset="0"/>
              </a:rPr>
              <a:t>Day with Highest Transaction: Friday (₦68,600)</a:t>
            </a:r>
          </a:p>
          <a:p>
            <a:pPr algn="just"/>
            <a:endParaRPr lang="en-US" sz="1200" dirty="0">
              <a:latin typeface="Poppins" panose="00000500000000000000" pitchFamily="2" charset="0"/>
              <a:cs typeface="Poppins" panose="00000500000000000000" pitchFamily="2" charset="0"/>
            </a:endParaRPr>
          </a:p>
          <a:p>
            <a:pPr marL="171450" indent="-171450" algn="just">
              <a:buFont typeface="Wingdings" panose="05000000000000000000" pitchFamily="2" charset="2"/>
              <a:buChar char="§"/>
            </a:pPr>
            <a:r>
              <a:rPr lang="en-US" sz="1200" dirty="0">
                <a:latin typeface="Poppins" panose="00000500000000000000" pitchFamily="2" charset="0"/>
                <a:cs typeface="Poppins" panose="00000500000000000000" pitchFamily="2" charset="0"/>
              </a:rPr>
              <a:t>Day with Highest Fee : Wednesday (₦270)</a:t>
            </a:r>
          </a:p>
          <a:p>
            <a:pPr marL="171450" indent="-171450" algn="just">
              <a:buFont typeface="Wingdings" panose="05000000000000000000" pitchFamily="2" charset="2"/>
              <a:buChar char="§"/>
            </a:pPr>
            <a:endParaRPr lang="en-US" sz="1200" dirty="0">
              <a:latin typeface="Poppins" panose="00000500000000000000" pitchFamily="2" charset="0"/>
              <a:cs typeface="Poppins" panose="00000500000000000000" pitchFamily="2" charset="0"/>
            </a:endParaRPr>
          </a:p>
          <a:p>
            <a:pPr marL="171450" indent="-171450" algn="just">
              <a:buFont typeface="Wingdings" panose="05000000000000000000" pitchFamily="2" charset="2"/>
              <a:buChar char="§"/>
            </a:pPr>
            <a:r>
              <a:rPr lang="en-US" sz="1200" dirty="0">
                <a:latin typeface="Poppins" panose="00000500000000000000" pitchFamily="2" charset="0"/>
                <a:cs typeface="Poppins" panose="00000500000000000000" pitchFamily="2" charset="0"/>
              </a:rPr>
              <a:t>Day with lowest Transaction : Sunday (₦700, ₦0 fee)</a:t>
            </a:r>
          </a:p>
          <a:p>
            <a:pPr marL="171450" indent="-171450" algn="just">
              <a:buFont typeface="Wingdings" panose="05000000000000000000" pitchFamily="2" charset="2"/>
              <a:buChar char="§"/>
            </a:pPr>
            <a:endParaRPr lang="en-US" sz="1200" dirty="0">
              <a:latin typeface="Poppins" panose="00000500000000000000" pitchFamily="2" charset="0"/>
              <a:cs typeface="Poppins" panose="00000500000000000000" pitchFamily="2" charset="0"/>
            </a:endParaRPr>
          </a:p>
          <a:p>
            <a:pPr marL="171450" indent="-171450" algn="just">
              <a:buFont typeface="Wingdings" panose="05000000000000000000" pitchFamily="2" charset="2"/>
              <a:buChar char="§"/>
            </a:pPr>
            <a:r>
              <a:rPr lang="en-US" sz="1200" dirty="0">
                <a:latin typeface="Poppins" panose="00000500000000000000" pitchFamily="2" charset="0"/>
                <a:cs typeface="Poppins" panose="00000500000000000000" pitchFamily="2" charset="0"/>
              </a:rPr>
              <a:t>Day with lowest Fee : Monday (₦0)</a:t>
            </a:r>
          </a:p>
        </p:txBody>
      </p:sp>
      <p:sp>
        <p:nvSpPr>
          <p:cNvPr id="7" name="Arrow: Up 1">
            <a:extLst>
              <a:ext uri="{FF2B5EF4-FFF2-40B4-BE49-F238E27FC236}">
                <a16:creationId xmlns:a16="http://schemas.microsoft.com/office/drawing/2014/main" id="{58DC5E65-6958-6EC8-5054-86CB8AD16F2D}"/>
              </a:ext>
            </a:extLst>
          </p:cNvPr>
          <p:cNvSpPr/>
          <p:nvPr/>
        </p:nvSpPr>
        <p:spPr>
          <a:xfrm rot="2704138">
            <a:off x="7333085" y="4452719"/>
            <a:ext cx="882991" cy="1171998"/>
          </a:xfrm>
          <a:custGeom>
            <a:avLst/>
            <a:gdLst>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52888 w 1411550"/>
              <a:gd name="connsiteY5" fmla="*/ 1225118 h 1225118"/>
              <a:gd name="connsiteX6" fmla="*/ 352888 w 1411550"/>
              <a:gd name="connsiteY6" fmla="*/ 612559 h 1225118"/>
              <a:gd name="connsiteX7" fmla="*/ 0 w 1411550"/>
              <a:gd name="connsiteY7" fmla="*/ 612559 h 1225118"/>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35133 w 1411550"/>
              <a:gd name="connsiteY5" fmla="*/ 896644 h 1225118"/>
              <a:gd name="connsiteX6" fmla="*/ 352888 w 1411550"/>
              <a:gd name="connsiteY6" fmla="*/ 612559 h 1225118"/>
              <a:gd name="connsiteX7" fmla="*/ 0 w 1411550"/>
              <a:gd name="connsiteY7" fmla="*/ 612559 h 122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1550" h="1225118">
                <a:moveTo>
                  <a:pt x="0" y="612559"/>
                </a:moveTo>
                <a:lnTo>
                  <a:pt x="705775" y="0"/>
                </a:lnTo>
                <a:lnTo>
                  <a:pt x="1411550" y="612559"/>
                </a:lnTo>
                <a:lnTo>
                  <a:pt x="1058663" y="612559"/>
                </a:lnTo>
                <a:lnTo>
                  <a:pt x="1058663" y="1225118"/>
                </a:lnTo>
                <a:lnTo>
                  <a:pt x="335133" y="896644"/>
                </a:lnTo>
                <a:lnTo>
                  <a:pt x="352888" y="612559"/>
                </a:lnTo>
                <a:lnTo>
                  <a:pt x="0" y="61255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descr="A line graph with blue and orange lines&#10;&#10;AI-generated content may be incorrect.">
            <a:extLst>
              <a:ext uri="{FF2B5EF4-FFF2-40B4-BE49-F238E27FC236}">
                <a16:creationId xmlns:a16="http://schemas.microsoft.com/office/drawing/2014/main" id="{C0F640CA-71F6-13F2-6965-A26724784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329" y="215132"/>
            <a:ext cx="6151612" cy="2941271"/>
          </a:xfrm>
          <a:prstGeom prst="rect">
            <a:avLst/>
          </a:prstGeom>
        </p:spPr>
      </p:pic>
      <p:pic>
        <p:nvPicPr>
          <p:cNvPr id="11" name="Picture 10" descr="A blue lines on a black background&#10;&#10;AI-generated content may be incorrect.">
            <a:extLst>
              <a:ext uri="{FF2B5EF4-FFF2-40B4-BE49-F238E27FC236}">
                <a16:creationId xmlns:a16="http://schemas.microsoft.com/office/drawing/2014/main" id="{4BF75918-95DA-584F-FA15-729EA526E9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328" y="3352714"/>
            <a:ext cx="6151612" cy="3128504"/>
          </a:xfrm>
          <a:prstGeom prst="rect">
            <a:avLst/>
          </a:prstGeom>
        </p:spPr>
      </p:pic>
      <p:sp>
        <p:nvSpPr>
          <p:cNvPr id="22" name="TextBox 21">
            <a:extLst>
              <a:ext uri="{FF2B5EF4-FFF2-40B4-BE49-F238E27FC236}">
                <a16:creationId xmlns:a16="http://schemas.microsoft.com/office/drawing/2014/main" id="{DF8F39FC-3B32-7A75-7637-7AB80A061404}"/>
              </a:ext>
            </a:extLst>
          </p:cNvPr>
          <p:cNvSpPr txBox="1"/>
          <p:nvPr/>
        </p:nvSpPr>
        <p:spPr>
          <a:xfrm>
            <a:off x="8585416" y="4145859"/>
            <a:ext cx="807637"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₦700</a:t>
            </a:r>
          </a:p>
        </p:txBody>
      </p:sp>
      <p:sp>
        <p:nvSpPr>
          <p:cNvPr id="23" name="Arrow: Up 1">
            <a:extLst>
              <a:ext uri="{FF2B5EF4-FFF2-40B4-BE49-F238E27FC236}">
                <a16:creationId xmlns:a16="http://schemas.microsoft.com/office/drawing/2014/main" id="{A1705FFC-61C1-42C8-7965-1BCCAD15120B}"/>
              </a:ext>
            </a:extLst>
          </p:cNvPr>
          <p:cNvSpPr/>
          <p:nvPr/>
        </p:nvSpPr>
        <p:spPr>
          <a:xfrm rot="18895862" flipV="1">
            <a:off x="8502643" y="4452719"/>
            <a:ext cx="882991" cy="1171998"/>
          </a:xfrm>
          <a:custGeom>
            <a:avLst/>
            <a:gdLst>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52888 w 1411550"/>
              <a:gd name="connsiteY5" fmla="*/ 1225118 h 1225118"/>
              <a:gd name="connsiteX6" fmla="*/ 352888 w 1411550"/>
              <a:gd name="connsiteY6" fmla="*/ 612559 h 1225118"/>
              <a:gd name="connsiteX7" fmla="*/ 0 w 1411550"/>
              <a:gd name="connsiteY7" fmla="*/ 612559 h 1225118"/>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35133 w 1411550"/>
              <a:gd name="connsiteY5" fmla="*/ 896644 h 1225118"/>
              <a:gd name="connsiteX6" fmla="*/ 352888 w 1411550"/>
              <a:gd name="connsiteY6" fmla="*/ 612559 h 1225118"/>
              <a:gd name="connsiteX7" fmla="*/ 0 w 1411550"/>
              <a:gd name="connsiteY7" fmla="*/ 612559 h 122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1550" h="1225118">
                <a:moveTo>
                  <a:pt x="0" y="612559"/>
                </a:moveTo>
                <a:lnTo>
                  <a:pt x="705775" y="0"/>
                </a:lnTo>
                <a:lnTo>
                  <a:pt x="1411550" y="612559"/>
                </a:lnTo>
                <a:lnTo>
                  <a:pt x="1058663" y="612559"/>
                </a:lnTo>
                <a:lnTo>
                  <a:pt x="1058663" y="1225118"/>
                </a:lnTo>
                <a:lnTo>
                  <a:pt x="335133" y="896644"/>
                </a:lnTo>
                <a:lnTo>
                  <a:pt x="352888" y="612559"/>
                </a:lnTo>
                <a:lnTo>
                  <a:pt x="0" y="61255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Arrow: Up 1">
            <a:extLst>
              <a:ext uri="{FF2B5EF4-FFF2-40B4-BE49-F238E27FC236}">
                <a16:creationId xmlns:a16="http://schemas.microsoft.com/office/drawing/2014/main" id="{C744396B-EFF3-5A08-0C78-08681724B084}"/>
              </a:ext>
            </a:extLst>
          </p:cNvPr>
          <p:cNvSpPr/>
          <p:nvPr/>
        </p:nvSpPr>
        <p:spPr>
          <a:xfrm rot="2704138">
            <a:off x="9629314" y="4452719"/>
            <a:ext cx="882991" cy="1171998"/>
          </a:xfrm>
          <a:custGeom>
            <a:avLst/>
            <a:gdLst>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52888 w 1411550"/>
              <a:gd name="connsiteY5" fmla="*/ 1225118 h 1225118"/>
              <a:gd name="connsiteX6" fmla="*/ 352888 w 1411550"/>
              <a:gd name="connsiteY6" fmla="*/ 612559 h 1225118"/>
              <a:gd name="connsiteX7" fmla="*/ 0 w 1411550"/>
              <a:gd name="connsiteY7" fmla="*/ 612559 h 1225118"/>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35133 w 1411550"/>
              <a:gd name="connsiteY5" fmla="*/ 896644 h 1225118"/>
              <a:gd name="connsiteX6" fmla="*/ 352888 w 1411550"/>
              <a:gd name="connsiteY6" fmla="*/ 612559 h 1225118"/>
              <a:gd name="connsiteX7" fmla="*/ 0 w 1411550"/>
              <a:gd name="connsiteY7" fmla="*/ 612559 h 122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1550" h="1225118">
                <a:moveTo>
                  <a:pt x="0" y="612559"/>
                </a:moveTo>
                <a:lnTo>
                  <a:pt x="705775" y="0"/>
                </a:lnTo>
                <a:lnTo>
                  <a:pt x="1411550" y="612559"/>
                </a:lnTo>
                <a:lnTo>
                  <a:pt x="1058663" y="612559"/>
                </a:lnTo>
                <a:lnTo>
                  <a:pt x="1058663" y="1225118"/>
                </a:lnTo>
                <a:lnTo>
                  <a:pt x="335133" y="896644"/>
                </a:lnTo>
                <a:lnTo>
                  <a:pt x="352888" y="612559"/>
                </a:lnTo>
                <a:lnTo>
                  <a:pt x="0" y="61255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Arrow: Up 1">
            <a:extLst>
              <a:ext uri="{FF2B5EF4-FFF2-40B4-BE49-F238E27FC236}">
                <a16:creationId xmlns:a16="http://schemas.microsoft.com/office/drawing/2014/main" id="{389428A0-2EA2-17CD-1E37-317854DE1054}"/>
              </a:ext>
            </a:extLst>
          </p:cNvPr>
          <p:cNvSpPr/>
          <p:nvPr/>
        </p:nvSpPr>
        <p:spPr>
          <a:xfrm rot="18895862" flipV="1">
            <a:off x="10748861" y="4452719"/>
            <a:ext cx="882991" cy="1171998"/>
          </a:xfrm>
          <a:custGeom>
            <a:avLst/>
            <a:gdLst>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52888 w 1411550"/>
              <a:gd name="connsiteY5" fmla="*/ 1225118 h 1225118"/>
              <a:gd name="connsiteX6" fmla="*/ 352888 w 1411550"/>
              <a:gd name="connsiteY6" fmla="*/ 612559 h 1225118"/>
              <a:gd name="connsiteX7" fmla="*/ 0 w 1411550"/>
              <a:gd name="connsiteY7" fmla="*/ 612559 h 1225118"/>
              <a:gd name="connsiteX0" fmla="*/ 0 w 1411550"/>
              <a:gd name="connsiteY0" fmla="*/ 612559 h 1225118"/>
              <a:gd name="connsiteX1" fmla="*/ 705775 w 1411550"/>
              <a:gd name="connsiteY1" fmla="*/ 0 h 1225118"/>
              <a:gd name="connsiteX2" fmla="*/ 1411550 w 1411550"/>
              <a:gd name="connsiteY2" fmla="*/ 612559 h 1225118"/>
              <a:gd name="connsiteX3" fmla="*/ 1058663 w 1411550"/>
              <a:gd name="connsiteY3" fmla="*/ 612559 h 1225118"/>
              <a:gd name="connsiteX4" fmla="*/ 1058663 w 1411550"/>
              <a:gd name="connsiteY4" fmla="*/ 1225118 h 1225118"/>
              <a:gd name="connsiteX5" fmla="*/ 335133 w 1411550"/>
              <a:gd name="connsiteY5" fmla="*/ 896644 h 1225118"/>
              <a:gd name="connsiteX6" fmla="*/ 352888 w 1411550"/>
              <a:gd name="connsiteY6" fmla="*/ 612559 h 1225118"/>
              <a:gd name="connsiteX7" fmla="*/ 0 w 1411550"/>
              <a:gd name="connsiteY7" fmla="*/ 612559 h 122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1550" h="1225118">
                <a:moveTo>
                  <a:pt x="0" y="612559"/>
                </a:moveTo>
                <a:lnTo>
                  <a:pt x="705775" y="0"/>
                </a:lnTo>
                <a:lnTo>
                  <a:pt x="1411550" y="612559"/>
                </a:lnTo>
                <a:lnTo>
                  <a:pt x="1058663" y="612559"/>
                </a:lnTo>
                <a:lnTo>
                  <a:pt x="1058663" y="1225118"/>
                </a:lnTo>
                <a:lnTo>
                  <a:pt x="335133" y="896644"/>
                </a:lnTo>
                <a:lnTo>
                  <a:pt x="352888" y="612559"/>
                </a:lnTo>
                <a:lnTo>
                  <a:pt x="0" y="61255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TextBox 25">
            <a:extLst>
              <a:ext uri="{FF2B5EF4-FFF2-40B4-BE49-F238E27FC236}">
                <a16:creationId xmlns:a16="http://schemas.microsoft.com/office/drawing/2014/main" id="{86D2D715-59FB-974A-6238-25112F82FB48}"/>
              </a:ext>
            </a:extLst>
          </p:cNvPr>
          <p:cNvSpPr txBox="1"/>
          <p:nvPr/>
        </p:nvSpPr>
        <p:spPr>
          <a:xfrm>
            <a:off x="7398417" y="5842687"/>
            <a:ext cx="807637"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Friday</a:t>
            </a:r>
            <a:endParaRPr lang="en-US" sz="1200" dirty="0">
              <a:latin typeface="Poppins" panose="00000500000000000000" pitchFamily="2" charset="0"/>
              <a:cs typeface="Poppins" panose="00000500000000000000" pitchFamily="2" charset="0"/>
            </a:endParaRPr>
          </a:p>
        </p:txBody>
      </p:sp>
      <p:sp>
        <p:nvSpPr>
          <p:cNvPr id="27" name="TextBox 26">
            <a:extLst>
              <a:ext uri="{FF2B5EF4-FFF2-40B4-BE49-F238E27FC236}">
                <a16:creationId xmlns:a16="http://schemas.microsoft.com/office/drawing/2014/main" id="{25BEA2B6-20B4-B76F-0036-DAE38E90E352}"/>
              </a:ext>
            </a:extLst>
          </p:cNvPr>
          <p:cNvSpPr txBox="1"/>
          <p:nvPr/>
        </p:nvSpPr>
        <p:spPr>
          <a:xfrm>
            <a:off x="7398418" y="4145859"/>
            <a:ext cx="935531"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₦68,600</a:t>
            </a:r>
          </a:p>
        </p:txBody>
      </p:sp>
      <p:sp>
        <p:nvSpPr>
          <p:cNvPr id="28" name="TextBox 27">
            <a:extLst>
              <a:ext uri="{FF2B5EF4-FFF2-40B4-BE49-F238E27FC236}">
                <a16:creationId xmlns:a16="http://schemas.microsoft.com/office/drawing/2014/main" id="{641CDCFF-D53F-0A1C-3815-E5A0DF47EC7B}"/>
              </a:ext>
            </a:extLst>
          </p:cNvPr>
          <p:cNvSpPr txBox="1"/>
          <p:nvPr/>
        </p:nvSpPr>
        <p:spPr>
          <a:xfrm>
            <a:off x="8585416" y="5842687"/>
            <a:ext cx="807637"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Sunday</a:t>
            </a:r>
            <a:endParaRPr lang="en-US" sz="1200" dirty="0">
              <a:latin typeface="Poppins" panose="00000500000000000000" pitchFamily="2" charset="0"/>
              <a:cs typeface="Poppins" panose="00000500000000000000" pitchFamily="2" charset="0"/>
            </a:endParaRPr>
          </a:p>
        </p:txBody>
      </p:sp>
      <p:sp>
        <p:nvSpPr>
          <p:cNvPr id="31" name="TextBox 30">
            <a:extLst>
              <a:ext uri="{FF2B5EF4-FFF2-40B4-BE49-F238E27FC236}">
                <a16:creationId xmlns:a16="http://schemas.microsoft.com/office/drawing/2014/main" id="{CA509AB5-6639-D015-25D4-2453170900DB}"/>
              </a:ext>
            </a:extLst>
          </p:cNvPr>
          <p:cNvSpPr txBox="1"/>
          <p:nvPr/>
        </p:nvSpPr>
        <p:spPr>
          <a:xfrm>
            <a:off x="9729401" y="4145859"/>
            <a:ext cx="807637"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₦270</a:t>
            </a:r>
          </a:p>
        </p:txBody>
      </p:sp>
      <p:sp>
        <p:nvSpPr>
          <p:cNvPr id="32" name="TextBox 31">
            <a:extLst>
              <a:ext uri="{FF2B5EF4-FFF2-40B4-BE49-F238E27FC236}">
                <a16:creationId xmlns:a16="http://schemas.microsoft.com/office/drawing/2014/main" id="{77582F81-011A-F22F-F8CB-BF0B10DB34D3}"/>
              </a:ext>
            </a:extLst>
          </p:cNvPr>
          <p:cNvSpPr txBox="1"/>
          <p:nvPr/>
        </p:nvSpPr>
        <p:spPr>
          <a:xfrm>
            <a:off x="9596920" y="5842686"/>
            <a:ext cx="1144063"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Wednesday</a:t>
            </a:r>
            <a:endParaRPr lang="en-US" sz="1200" dirty="0">
              <a:latin typeface="Poppins" panose="00000500000000000000" pitchFamily="2" charset="0"/>
              <a:cs typeface="Poppins" panose="00000500000000000000" pitchFamily="2" charset="0"/>
            </a:endParaRPr>
          </a:p>
        </p:txBody>
      </p:sp>
      <p:sp>
        <p:nvSpPr>
          <p:cNvPr id="33" name="TextBox 32">
            <a:extLst>
              <a:ext uri="{FF2B5EF4-FFF2-40B4-BE49-F238E27FC236}">
                <a16:creationId xmlns:a16="http://schemas.microsoft.com/office/drawing/2014/main" id="{9D716794-475B-7674-EA04-0627D216E58B}"/>
              </a:ext>
            </a:extLst>
          </p:cNvPr>
          <p:cNvSpPr txBox="1"/>
          <p:nvPr/>
        </p:nvSpPr>
        <p:spPr>
          <a:xfrm>
            <a:off x="10786537" y="4145859"/>
            <a:ext cx="807637"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₦0</a:t>
            </a:r>
          </a:p>
        </p:txBody>
      </p:sp>
      <p:sp>
        <p:nvSpPr>
          <p:cNvPr id="34" name="TextBox 33">
            <a:extLst>
              <a:ext uri="{FF2B5EF4-FFF2-40B4-BE49-F238E27FC236}">
                <a16:creationId xmlns:a16="http://schemas.microsoft.com/office/drawing/2014/main" id="{7E659C99-B08B-B15F-E0FA-973FAD0EAC62}"/>
              </a:ext>
            </a:extLst>
          </p:cNvPr>
          <p:cNvSpPr txBox="1"/>
          <p:nvPr/>
        </p:nvSpPr>
        <p:spPr>
          <a:xfrm>
            <a:off x="10944850" y="5842687"/>
            <a:ext cx="900791" cy="276999"/>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Monday</a:t>
            </a:r>
            <a:endParaRPr lang="en-US" sz="1200" dirty="0">
              <a:latin typeface="Poppins" panose="00000500000000000000" pitchFamily="2" charset="0"/>
              <a:cs typeface="Poppins" panose="00000500000000000000" pitchFamily="2" charset="0"/>
            </a:endParaRPr>
          </a:p>
        </p:txBody>
      </p:sp>
      <p:sp>
        <p:nvSpPr>
          <p:cNvPr id="35" name="Rectangle 34">
            <a:extLst>
              <a:ext uri="{FF2B5EF4-FFF2-40B4-BE49-F238E27FC236}">
                <a16:creationId xmlns:a16="http://schemas.microsoft.com/office/drawing/2014/main" id="{4A844378-2F8E-4E76-2116-376E9F19F21C}"/>
              </a:ext>
            </a:extLst>
          </p:cNvPr>
          <p:cNvSpPr/>
          <p:nvPr/>
        </p:nvSpPr>
        <p:spPr>
          <a:xfrm>
            <a:off x="7219456" y="456278"/>
            <a:ext cx="4534036" cy="5792871"/>
          </a:xfrm>
          <a:prstGeom prst="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96314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759BD-EF8B-D520-E0A9-1D8C74D6AA44}"/>
            </a:ext>
          </a:extLst>
        </p:cNvPr>
        <p:cNvGrpSpPr/>
        <p:nvPr/>
      </p:nvGrpSpPr>
      <p:grpSpPr>
        <a:xfrm>
          <a:off x="0" y="0"/>
          <a:ext cx="0" cy="0"/>
          <a:chOff x="0" y="0"/>
          <a:chExt cx="0" cy="0"/>
        </a:xfrm>
      </p:grpSpPr>
      <p:pic>
        <p:nvPicPr>
          <p:cNvPr id="2" name="Picture 1" descr="A white background with geometric shapes&#10;&#10;AI-generated content may be incorrect.">
            <a:extLst>
              <a:ext uri="{FF2B5EF4-FFF2-40B4-BE49-F238E27FC236}">
                <a16:creationId xmlns:a16="http://schemas.microsoft.com/office/drawing/2014/main" id="{8F5445BB-B13D-C1B0-74F1-ED60FB500B31}"/>
              </a:ext>
            </a:extLst>
          </p:cNvPr>
          <p:cNvPicPr>
            <a:picLocks noChangeAspect="1"/>
          </p:cNvPicPr>
          <p:nvPr/>
        </p:nvPicPr>
        <p:blipFill>
          <a:blip r:embed="rId2">
            <a:extLst>
              <a:ext uri="{28A0092B-C50C-407E-A947-70E740481C1C}">
                <a14:useLocalDpi xmlns:a14="http://schemas.microsoft.com/office/drawing/2010/main" val="0"/>
              </a:ext>
            </a:extLst>
          </a:blip>
          <a:srcRect l="15625"/>
          <a:stretch/>
        </p:blipFill>
        <p:spPr>
          <a:xfrm rot="16200000">
            <a:off x="2667000" y="-2667000"/>
            <a:ext cx="6858000" cy="12192000"/>
          </a:xfrm>
          <a:prstGeom prst="rect">
            <a:avLst/>
          </a:prstGeom>
        </p:spPr>
      </p:pic>
      <p:pic>
        <p:nvPicPr>
          <p:cNvPr id="4" name="Picture 3" descr="A pie chart with numbers and a black background&#10;&#10;AI-generated content may be incorrect.">
            <a:extLst>
              <a:ext uri="{FF2B5EF4-FFF2-40B4-BE49-F238E27FC236}">
                <a16:creationId xmlns:a16="http://schemas.microsoft.com/office/drawing/2014/main" id="{0946F3C7-F63E-3A19-2AA1-5DA2AD956947}"/>
              </a:ext>
            </a:extLst>
          </p:cNvPr>
          <p:cNvPicPr>
            <a:picLocks noChangeAspect="1"/>
          </p:cNvPicPr>
          <p:nvPr/>
        </p:nvPicPr>
        <p:blipFill>
          <a:blip r:embed="rId3">
            <a:extLst>
              <a:ext uri="{28A0092B-C50C-407E-A947-70E740481C1C}">
                <a14:useLocalDpi xmlns:a14="http://schemas.microsoft.com/office/drawing/2010/main" val="0"/>
              </a:ext>
            </a:extLst>
          </a:blip>
          <a:srcRect l="8843" t="929" r="1056" b="1958"/>
          <a:stretch/>
        </p:blipFill>
        <p:spPr>
          <a:xfrm>
            <a:off x="529455" y="368492"/>
            <a:ext cx="4983546" cy="4720855"/>
          </a:xfrm>
          <a:prstGeom prst="rect">
            <a:avLst/>
          </a:prstGeom>
        </p:spPr>
      </p:pic>
      <p:sp>
        <p:nvSpPr>
          <p:cNvPr id="7" name="TextBox 6">
            <a:extLst>
              <a:ext uri="{FF2B5EF4-FFF2-40B4-BE49-F238E27FC236}">
                <a16:creationId xmlns:a16="http://schemas.microsoft.com/office/drawing/2014/main" id="{336FA9B7-16C9-2EBE-41AD-B3FA3EE0654E}"/>
              </a:ext>
            </a:extLst>
          </p:cNvPr>
          <p:cNvSpPr txBox="1"/>
          <p:nvPr/>
        </p:nvSpPr>
        <p:spPr>
          <a:xfrm>
            <a:off x="6181300" y="1394712"/>
            <a:ext cx="5342400" cy="646331"/>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The total amount recorded in January was ₦58,600. This represents a modest start to the quarter and laid the foundation for the performance in the following months.</a:t>
            </a:r>
          </a:p>
        </p:txBody>
      </p:sp>
      <p:sp>
        <p:nvSpPr>
          <p:cNvPr id="9" name="TextBox 8">
            <a:extLst>
              <a:ext uri="{FF2B5EF4-FFF2-40B4-BE49-F238E27FC236}">
                <a16:creationId xmlns:a16="http://schemas.microsoft.com/office/drawing/2014/main" id="{7F4F7C41-C8E2-A70C-3331-DC503AACF789}"/>
              </a:ext>
            </a:extLst>
          </p:cNvPr>
          <p:cNvSpPr txBox="1"/>
          <p:nvPr/>
        </p:nvSpPr>
        <p:spPr>
          <a:xfrm>
            <a:off x="6181300" y="2643320"/>
            <a:ext cx="5342400" cy="646331"/>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February saw a significant increase in activity, with a total of ₦141,550. This marks a 141% increase from January, indicating either higher revenue generation, increased inflows.</a:t>
            </a:r>
          </a:p>
        </p:txBody>
      </p:sp>
      <p:sp>
        <p:nvSpPr>
          <p:cNvPr id="11" name="TextBox 10">
            <a:extLst>
              <a:ext uri="{FF2B5EF4-FFF2-40B4-BE49-F238E27FC236}">
                <a16:creationId xmlns:a16="http://schemas.microsoft.com/office/drawing/2014/main" id="{C2C85292-D1EB-050B-2F9E-D82CF6FCD1EE}"/>
              </a:ext>
            </a:extLst>
          </p:cNvPr>
          <p:cNvSpPr txBox="1"/>
          <p:nvPr/>
        </p:nvSpPr>
        <p:spPr>
          <a:xfrm>
            <a:off x="6181300" y="3896415"/>
            <a:ext cx="5342401" cy="646331"/>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March recorded the lowest amount at ₦9,100. This sharp decline (-93.6% from February) suggests a drop-in financial activity, which is due to the network glitch that was experience for around 7days. </a:t>
            </a:r>
          </a:p>
        </p:txBody>
      </p:sp>
      <p:sp>
        <p:nvSpPr>
          <p:cNvPr id="19" name="Rectangle 18">
            <a:extLst>
              <a:ext uri="{FF2B5EF4-FFF2-40B4-BE49-F238E27FC236}">
                <a16:creationId xmlns:a16="http://schemas.microsoft.com/office/drawing/2014/main" id="{DD081744-2442-43B5-BA9E-13F88A66C282}"/>
              </a:ext>
            </a:extLst>
          </p:cNvPr>
          <p:cNvSpPr/>
          <p:nvPr/>
        </p:nvSpPr>
        <p:spPr>
          <a:xfrm>
            <a:off x="6181300" y="915092"/>
            <a:ext cx="1249325" cy="39145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F36B770-39EC-198D-AA65-A01FF8A21C04}"/>
              </a:ext>
            </a:extLst>
          </p:cNvPr>
          <p:cNvSpPr txBox="1"/>
          <p:nvPr/>
        </p:nvSpPr>
        <p:spPr>
          <a:xfrm>
            <a:off x="6181300" y="998770"/>
            <a:ext cx="954699" cy="307777"/>
          </a:xfrm>
          <a:prstGeom prst="rect">
            <a:avLst/>
          </a:prstGeom>
          <a:noFill/>
        </p:spPr>
        <p:txBody>
          <a:bodyPr wrap="square">
            <a:spAutoFit/>
          </a:bodyPr>
          <a:lstStyle/>
          <a:p>
            <a:pPr algn="just"/>
            <a:r>
              <a:rPr lang="en-US" sz="1400" dirty="0">
                <a:solidFill>
                  <a:schemeClr val="bg1"/>
                </a:solidFill>
                <a:latin typeface="Poppins" panose="00000500000000000000" pitchFamily="2" charset="0"/>
                <a:cs typeface="Poppins" panose="00000500000000000000" pitchFamily="2" charset="0"/>
              </a:rPr>
              <a:t>January</a:t>
            </a:r>
          </a:p>
        </p:txBody>
      </p:sp>
      <p:sp>
        <p:nvSpPr>
          <p:cNvPr id="21" name="Rectangle 20">
            <a:extLst>
              <a:ext uri="{FF2B5EF4-FFF2-40B4-BE49-F238E27FC236}">
                <a16:creationId xmlns:a16="http://schemas.microsoft.com/office/drawing/2014/main" id="{B482CCFF-FA0A-2A85-F353-9716407C02A3}"/>
              </a:ext>
            </a:extLst>
          </p:cNvPr>
          <p:cNvSpPr/>
          <p:nvPr/>
        </p:nvSpPr>
        <p:spPr>
          <a:xfrm>
            <a:off x="6181300" y="3421282"/>
            <a:ext cx="1249325" cy="39145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4465E2BE-790A-9A22-0B00-6BE6C662836D}"/>
              </a:ext>
            </a:extLst>
          </p:cNvPr>
          <p:cNvSpPr/>
          <p:nvPr/>
        </p:nvSpPr>
        <p:spPr>
          <a:xfrm>
            <a:off x="6181300" y="2168187"/>
            <a:ext cx="1249325" cy="39145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606BBE34-979A-8DE6-4685-74BD16F879D6}"/>
              </a:ext>
            </a:extLst>
          </p:cNvPr>
          <p:cNvSpPr txBox="1"/>
          <p:nvPr/>
        </p:nvSpPr>
        <p:spPr>
          <a:xfrm>
            <a:off x="6181300" y="2217157"/>
            <a:ext cx="1103555" cy="307777"/>
          </a:xfrm>
          <a:prstGeom prst="rect">
            <a:avLst/>
          </a:prstGeom>
          <a:noFill/>
          <a:ln>
            <a:noFill/>
          </a:ln>
        </p:spPr>
        <p:txBody>
          <a:bodyPr wrap="square">
            <a:spAutoFit/>
          </a:bodyPr>
          <a:lstStyle/>
          <a:p>
            <a:pPr algn="just"/>
            <a:r>
              <a:rPr lang="en-US" sz="1400" dirty="0">
                <a:solidFill>
                  <a:schemeClr val="bg1"/>
                </a:solidFill>
                <a:latin typeface="Poppins" panose="00000500000000000000" pitchFamily="2" charset="0"/>
                <a:cs typeface="Poppins" panose="00000500000000000000" pitchFamily="2" charset="0"/>
              </a:rPr>
              <a:t>February</a:t>
            </a:r>
          </a:p>
        </p:txBody>
      </p:sp>
      <p:sp>
        <p:nvSpPr>
          <p:cNvPr id="18" name="TextBox 17">
            <a:extLst>
              <a:ext uri="{FF2B5EF4-FFF2-40B4-BE49-F238E27FC236}">
                <a16:creationId xmlns:a16="http://schemas.microsoft.com/office/drawing/2014/main" id="{F5163055-78C2-DAD2-EA39-046179901367}"/>
              </a:ext>
            </a:extLst>
          </p:cNvPr>
          <p:cNvSpPr txBox="1"/>
          <p:nvPr/>
        </p:nvSpPr>
        <p:spPr>
          <a:xfrm>
            <a:off x="6181300" y="3504960"/>
            <a:ext cx="830444" cy="307777"/>
          </a:xfrm>
          <a:prstGeom prst="rect">
            <a:avLst/>
          </a:prstGeom>
          <a:noFill/>
        </p:spPr>
        <p:txBody>
          <a:bodyPr wrap="square">
            <a:spAutoFit/>
          </a:bodyPr>
          <a:lstStyle/>
          <a:p>
            <a:pPr algn="just"/>
            <a:r>
              <a:rPr lang="en-US" sz="1400" dirty="0">
                <a:solidFill>
                  <a:schemeClr val="bg1"/>
                </a:solidFill>
                <a:latin typeface="Poppins" panose="00000500000000000000" pitchFamily="2" charset="0"/>
                <a:cs typeface="Poppins" panose="00000500000000000000" pitchFamily="2" charset="0"/>
              </a:rPr>
              <a:t>March</a:t>
            </a:r>
          </a:p>
        </p:txBody>
      </p:sp>
      <p:pic>
        <p:nvPicPr>
          <p:cNvPr id="25" name="Picture 24" descr="A screenshot of a cell phone&#10;&#10;AI-generated content may be incorrect.">
            <a:extLst>
              <a:ext uri="{FF2B5EF4-FFF2-40B4-BE49-F238E27FC236}">
                <a16:creationId xmlns:a16="http://schemas.microsoft.com/office/drawing/2014/main" id="{302AD3E8-351E-B1EC-1A7B-3C8A51BF434E}"/>
              </a:ext>
            </a:extLst>
          </p:cNvPr>
          <p:cNvPicPr>
            <a:picLocks noChangeAspect="1"/>
          </p:cNvPicPr>
          <p:nvPr/>
        </p:nvPicPr>
        <p:blipFill>
          <a:blip r:embed="rId4">
            <a:extLst>
              <a:ext uri="{28A0092B-C50C-407E-A947-70E740481C1C}">
                <a14:useLocalDpi xmlns:a14="http://schemas.microsoft.com/office/drawing/2010/main" val="0"/>
              </a:ext>
            </a:extLst>
          </a:blip>
          <a:srcRect t="74751" b="5005"/>
          <a:stretch/>
        </p:blipFill>
        <p:spPr>
          <a:xfrm>
            <a:off x="0" y="4992233"/>
            <a:ext cx="12192000" cy="1851189"/>
          </a:xfrm>
          <a:prstGeom prst="rect">
            <a:avLst/>
          </a:prstGeom>
          <a:ln>
            <a:noFill/>
          </a:ln>
          <a:effectLst>
            <a:outerShdw blurRad="292100" dist="139700" dir="2700000" algn="tl" rotWithShape="0">
              <a:srgbClr val="333333">
                <a:alpha val="65000"/>
              </a:srgbClr>
            </a:outerShdw>
          </a:effectLst>
        </p:spPr>
      </p:pic>
      <p:sp>
        <p:nvSpPr>
          <p:cNvPr id="24" name="Rectangle 23">
            <a:extLst>
              <a:ext uri="{FF2B5EF4-FFF2-40B4-BE49-F238E27FC236}">
                <a16:creationId xmlns:a16="http://schemas.microsoft.com/office/drawing/2014/main" id="{772D6ECB-843A-5E39-10E9-127BAAA85145}"/>
              </a:ext>
            </a:extLst>
          </p:cNvPr>
          <p:cNvSpPr/>
          <p:nvPr/>
        </p:nvSpPr>
        <p:spPr>
          <a:xfrm>
            <a:off x="272902" y="239422"/>
            <a:ext cx="11646196" cy="6364577"/>
          </a:xfrm>
          <a:prstGeom prst="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56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3EC62-57AB-4A7E-EED9-8484395952FF}"/>
            </a:ext>
          </a:extLst>
        </p:cNvPr>
        <p:cNvGrpSpPr/>
        <p:nvPr/>
      </p:nvGrpSpPr>
      <p:grpSpPr>
        <a:xfrm>
          <a:off x="0" y="0"/>
          <a:ext cx="0" cy="0"/>
          <a:chOff x="0" y="0"/>
          <a:chExt cx="0" cy="0"/>
        </a:xfrm>
      </p:grpSpPr>
      <p:pic>
        <p:nvPicPr>
          <p:cNvPr id="2" name="Picture 1" descr="A white background with geometric shapes&#10;&#10;AI-generated content may be incorrect.">
            <a:extLst>
              <a:ext uri="{FF2B5EF4-FFF2-40B4-BE49-F238E27FC236}">
                <a16:creationId xmlns:a16="http://schemas.microsoft.com/office/drawing/2014/main" id="{EED64874-B13B-3A2A-5743-A0F2817C11FC}"/>
              </a:ext>
            </a:extLst>
          </p:cNvPr>
          <p:cNvPicPr>
            <a:picLocks noChangeAspect="1"/>
          </p:cNvPicPr>
          <p:nvPr/>
        </p:nvPicPr>
        <p:blipFill>
          <a:blip r:embed="rId2">
            <a:extLst>
              <a:ext uri="{28A0092B-C50C-407E-A947-70E740481C1C}">
                <a14:useLocalDpi xmlns:a14="http://schemas.microsoft.com/office/drawing/2010/main" val="0"/>
              </a:ext>
            </a:extLst>
          </a:blip>
          <a:srcRect l="15625"/>
          <a:stretch/>
        </p:blipFill>
        <p:spPr>
          <a:xfrm rot="16200000">
            <a:off x="2667000" y="-2667000"/>
            <a:ext cx="6858000" cy="12192000"/>
          </a:xfrm>
          <a:prstGeom prst="rect">
            <a:avLst/>
          </a:prstGeom>
        </p:spPr>
      </p:pic>
      <p:graphicFrame>
        <p:nvGraphicFramePr>
          <p:cNvPr id="3" name="Chart 2">
            <a:extLst>
              <a:ext uri="{FF2B5EF4-FFF2-40B4-BE49-F238E27FC236}">
                <a16:creationId xmlns:a16="http://schemas.microsoft.com/office/drawing/2014/main" id="{8C7F63A8-D916-2783-152A-AD2C8C085D23}"/>
              </a:ext>
            </a:extLst>
          </p:cNvPr>
          <p:cNvGraphicFramePr>
            <a:graphicFrameLocks/>
          </p:cNvGraphicFramePr>
          <p:nvPr>
            <p:extLst>
              <p:ext uri="{D42A27DB-BD31-4B8C-83A1-F6EECF244321}">
                <p14:modId xmlns:p14="http://schemas.microsoft.com/office/powerpoint/2010/main" val="199854449"/>
              </p:ext>
            </p:extLst>
          </p:nvPr>
        </p:nvGraphicFramePr>
        <p:xfrm>
          <a:off x="96520" y="416609"/>
          <a:ext cx="6819900" cy="5847556"/>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30A10187-B4C3-703B-3A42-C063E1040216}"/>
              </a:ext>
            </a:extLst>
          </p:cNvPr>
          <p:cNvSpPr txBox="1"/>
          <p:nvPr/>
        </p:nvSpPr>
        <p:spPr>
          <a:xfrm>
            <a:off x="7012941" y="1259174"/>
            <a:ext cx="4779887" cy="4339650"/>
          </a:xfrm>
          <a:prstGeom prst="rect">
            <a:avLst/>
          </a:prstGeom>
          <a:noFill/>
        </p:spPr>
        <p:txBody>
          <a:bodyPr wrap="square" rtlCol="0">
            <a:spAutoFit/>
          </a:bodyPr>
          <a:lstStyle/>
          <a:p>
            <a:pPr algn="just"/>
            <a:r>
              <a:rPr lang="en-US" sz="1200" b="1" dirty="0">
                <a:latin typeface="Poppins" panose="00000500000000000000" pitchFamily="2" charset="0"/>
                <a:cs typeface="Poppins" panose="00000500000000000000" pitchFamily="2" charset="0"/>
              </a:rPr>
              <a:t>Volume of Transactions per Month</a:t>
            </a:r>
          </a:p>
          <a:p>
            <a:pPr algn="just"/>
            <a:endParaRPr lang="en-US" sz="1200" dirty="0">
              <a:latin typeface="Poppins" panose="00000500000000000000" pitchFamily="2" charset="0"/>
              <a:cs typeface="Poppins" panose="00000500000000000000" pitchFamily="2" charset="0"/>
            </a:endParaRPr>
          </a:p>
          <a:p>
            <a:pPr algn="just"/>
            <a:r>
              <a:rPr lang="en-US" sz="1200" dirty="0">
                <a:latin typeface="Poppins" panose="00000500000000000000" pitchFamily="2" charset="0"/>
                <a:cs typeface="Poppins" panose="00000500000000000000" pitchFamily="2" charset="0"/>
              </a:rPr>
              <a:t>Report on the volume of transaction done for each  month.</a:t>
            </a:r>
          </a:p>
          <a:p>
            <a:pPr algn="just"/>
            <a:r>
              <a:rPr lang="en-US" sz="1200" dirty="0">
                <a:latin typeface="Poppins" panose="00000500000000000000" pitchFamily="2" charset="0"/>
                <a:cs typeface="Poppins" panose="00000500000000000000" pitchFamily="2" charset="0"/>
              </a:rPr>
              <a:t> </a:t>
            </a:r>
          </a:p>
          <a:p>
            <a:pPr algn="just"/>
            <a:r>
              <a:rPr lang="en-US" sz="1200" b="1" dirty="0">
                <a:latin typeface="Poppins" panose="00000500000000000000" pitchFamily="2" charset="0"/>
                <a:cs typeface="Poppins" panose="00000500000000000000" pitchFamily="2" charset="0"/>
              </a:rPr>
              <a:t>January</a:t>
            </a:r>
          </a:p>
          <a:p>
            <a:pPr algn="just"/>
            <a:r>
              <a:rPr lang="en-US" sz="1200" dirty="0">
                <a:latin typeface="Poppins" panose="00000500000000000000" pitchFamily="2" charset="0"/>
                <a:cs typeface="Poppins" panose="00000500000000000000" pitchFamily="2" charset="0"/>
              </a:rPr>
              <a:t>January recorded 30 transactions, marking the start of the quarter with moderate activity. This figure provides a useful benchmark for comparing the performance of subsequent months.</a:t>
            </a:r>
          </a:p>
          <a:p>
            <a:pPr algn="just"/>
            <a:endParaRPr lang="en-US" sz="1200" dirty="0">
              <a:latin typeface="Poppins" panose="00000500000000000000" pitchFamily="2" charset="0"/>
              <a:cs typeface="Poppins" panose="00000500000000000000" pitchFamily="2" charset="0"/>
            </a:endParaRPr>
          </a:p>
          <a:p>
            <a:pPr algn="just"/>
            <a:r>
              <a:rPr lang="en-US" sz="1200" dirty="0">
                <a:latin typeface="Poppins" panose="00000500000000000000" pitchFamily="2" charset="0"/>
                <a:cs typeface="Poppins" panose="00000500000000000000" pitchFamily="2" charset="0"/>
              </a:rPr>
              <a:t> </a:t>
            </a:r>
            <a:r>
              <a:rPr lang="en-US" sz="1200" b="1" dirty="0">
                <a:latin typeface="Poppins" panose="00000500000000000000" pitchFamily="2" charset="0"/>
                <a:cs typeface="Poppins" panose="00000500000000000000" pitchFamily="2" charset="0"/>
              </a:rPr>
              <a:t>February</a:t>
            </a:r>
          </a:p>
          <a:p>
            <a:pPr algn="just"/>
            <a:r>
              <a:rPr lang="en-US" sz="1200" dirty="0">
                <a:latin typeface="Poppins" panose="00000500000000000000" pitchFamily="2" charset="0"/>
                <a:cs typeface="Poppins" panose="00000500000000000000" pitchFamily="2" charset="0"/>
              </a:rPr>
              <a:t> February experienced a noticeable increase with 42 transactions, the highest in the quarter. This represents a 40% increase over January, indicating a surge in customer engagement or operational activity.</a:t>
            </a:r>
          </a:p>
          <a:p>
            <a:pPr algn="just"/>
            <a:endParaRPr lang="en-US" sz="1200" dirty="0">
              <a:latin typeface="Poppins" panose="00000500000000000000" pitchFamily="2" charset="0"/>
              <a:cs typeface="Poppins" panose="00000500000000000000" pitchFamily="2" charset="0"/>
            </a:endParaRPr>
          </a:p>
          <a:p>
            <a:pPr algn="just"/>
            <a:r>
              <a:rPr lang="en-US" sz="1200" b="1" dirty="0">
                <a:latin typeface="Poppins" panose="00000500000000000000" pitchFamily="2" charset="0"/>
                <a:cs typeface="Poppins" panose="00000500000000000000" pitchFamily="2" charset="0"/>
              </a:rPr>
              <a:t>March</a:t>
            </a:r>
          </a:p>
          <a:p>
            <a:pPr algn="just"/>
            <a:r>
              <a:rPr lang="en-US" sz="1200" dirty="0">
                <a:latin typeface="Poppins" panose="00000500000000000000" pitchFamily="2" charset="0"/>
                <a:cs typeface="Poppins" panose="00000500000000000000" pitchFamily="2" charset="0"/>
              </a:rPr>
              <a:t>March saw a slight dip to 41 transactions, but this did not reflect in the amount  transacted in the course of the month due to the network glitch experience in the month, the high-volume experience in match was due to the transaction testing after the network was restored back.</a:t>
            </a:r>
          </a:p>
          <a:p>
            <a:pPr algn="just"/>
            <a:endParaRPr lang="en-US" sz="12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28653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7156-1988-933F-226B-8AF08E61537A}"/>
            </a:ext>
          </a:extLst>
        </p:cNvPr>
        <p:cNvGrpSpPr/>
        <p:nvPr/>
      </p:nvGrpSpPr>
      <p:grpSpPr>
        <a:xfrm>
          <a:off x="0" y="0"/>
          <a:ext cx="0" cy="0"/>
          <a:chOff x="0" y="0"/>
          <a:chExt cx="0" cy="0"/>
        </a:xfrm>
      </p:grpSpPr>
      <p:pic>
        <p:nvPicPr>
          <p:cNvPr id="2" name="Picture 1" descr="A white background with geometric shapes&#10;&#10;AI-generated content may be incorrect.">
            <a:extLst>
              <a:ext uri="{FF2B5EF4-FFF2-40B4-BE49-F238E27FC236}">
                <a16:creationId xmlns:a16="http://schemas.microsoft.com/office/drawing/2014/main" id="{CB4D38C3-DE9F-B350-BDF3-576520F8961E}"/>
              </a:ext>
            </a:extLst>
          </p:cNvPr>
          <p:cNvPicPr>
            <a:picLocks noChangeAspect="1"/>
          </p:cNvPicPr>
          <p:nvPr/>
        </p:nvPicPr>
        <p:blipFill>
          <a:blip r:embed="rId2">
            <a:extLst>
              <a:ext uri="{28A0092B-C50C-407E-A947-70E740481C1C}">
                <a14:useLocalDpi xmlns:a14="http://schemas.microsoft.com/office/drawing/2010/main" val="0"/>
              </a:ext>
            </a:extLst>
          </a:blip>
          <a:srcRect l="15625"/>
          <a:stretch/>
        </p:blipFill>
        <p:spPr>
          <a:xfrm rot="16200000">
            <a:off x="2667000" y="-2667000"/>
            <a:ext cx="6858000" cy="12192000"/>
          </a:xfrm>
          <a:prstGeom prst="rect">
            <a:avLst/>
          </a:prstGeom>
        </p:spPr>
      </p:pic>
      <p:graphicFrame>
        <p:nvGraphicFramePr>
          <p:cNvPr id="3" name="Chart 2">
            <a:extLst>
              <a:ext uri="{FF2B5EF4-FFF2-40B4-BE49-F238E27FC236}">
                <a16:creationId xmlns:a16="http://schemas.microsoft.com/office/drawing/2014/main" id="{00D47351-1B8A-F7E8-409E-12A3D9BC94BE}"/>
              </a:ext>
            </a:extLst>
          </p:cNvPr>
          <p:cNvGraphicFramePr>
            <a:graphicFrameLocks/>
          </p:cNvGraphicFramePr>
          <p:nvPr>
            <p:extLst>
              <p:ext uri="{D42A27DB-BD31-4B8C-83A1-F6EECF244321}">
                <p14:modId xmlns:p14="http://schemas.microsoft.com/office/powerpoint/2010/main" val="2140213883"/>
              </p:ext>
            </p:extLst>
          </p:nvPr>
        </p:nvGraphicFramePr>
        <p:xfrm>
          <a:off x="547084" y="272663"/>
          <a:ext cx="11097830" cy="2754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6A5C0771-CFB4-5297-6B4B-7F45BA0F36E4}"/>
              </a:ext>
            </a:extLst>
          </p:cNvPr>
          <p:cNvGraphicFramePr>
            <a:graphicFrameLocks/>
          </p:cNvGraphicFramePr>
          <p:nvPr>
            <p:extLst>
              <p:ext uri="{D42A27DB-BD31-4B8C-83A1-F6EECF244321}">
                <p14:modId xmlns:p14="http://schemas.microsoft.com/office/powerpoint/2010/main" val="2435238530"/>
              </p:ext>
            </p:extLst>
          </p:nvPr>
        </p:nvGraphicFramePr>
        <p:xfrm>
          <a:off x="547084" y="3698012"/>
          <a:ext cx="11097830" cy="2754360"/>
        </p:xfrm>
        <a:graphic>
          <a:graphicData uri="http://schemas.openxmlformats.org/drawingml/2006/chart">
            <c:chart xmlns:c="http://schemas.openxmlformats.org/drawingml/2006/chart" xmlns:r="http://schemas.openxmlformats.org/officeDocument/2006/relationships" r:id="rId4"/>
          </a:graphicData>
        </a:graphic>
      </p:graphicFrame>
      <p:cxnSp>
        <p:nvCxnSpPr>
          <p:cNvPr id="6" name="Straight Connector 5">
            <a:extLst>
              <a:ext uri="{FF2B5EF4-FFF2-40B4-BE49-F238E27FC236}">
                <a16:creationId xmlns:a16="http://schemas.microsoft.com/office/drawing/2014/main" id="{4DB04551-9D35-C67A-1027-7F85B03270E2}"/>
              </a:ext>
            </a:extLst>
          </p:cNvPr>
          <p:cNvCxnSpPr>
            <a:cxnSpLocks/>
          </p:cNvCxnSpPr>
          <p:nvPr/>
        </p:nvCxnSpPr>
        <p:spPr>
          <a:xfrm flipV="1">
            <a:off x="0" y="3375216"/>
            <a:ext cx="12192000" cy="1"/>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564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BA0BA-1271-590A-8139-C4515A275064}"/>
            </a:ext>
          </a:extLst>
        </p:cNvPr>
        <p:cNvGrpSpPr/>
        <p:nvPr/>
      </p:nvGrpSpPr>
      <p:grpSpPr>
        <a:xfrm>
          <a:off x="0" y="0"/>
          <a:ext cx="0" cy="0"/>
          <a:chOff x="0" y="0"/>
          <a:chExt cx="0" cy="0"/>
        </a:xfrm>
      </p:grpSpPr>
      <p:pic>
        <p:nvPicPr>
          <p:cNvPr id="2" name="Picture 1" descr="A white background with geometric shapes&#10;&#10;AI-generated content may be incorrect.">
            <a:extLst>
              <a:ext uri="{FF2B5EF4-FFF2-40B4-BE49-F238E27FC236}">
                <a16:creationId xmlns:a16="http://schemas.microsoft.com/office/drawing/2014/main" id="{C469AAE5-4C29-223C-B870-E3B4488DB0A6}"/>
              </a:ext>
            </a:extLst>
          </p:cNvPr>
          <p:cNvPicPr>
            <a:picLocks noChangeAspect="1"/>
          </p:cNvPicPr>
          <p:nvPr/>
        </p:nvPicPr>
        <p:blipFill>
          <a:blip r:embed="rId2">
            <a:extLst>
              <a:ext uri="{28A0092B-C50C-407E-A947-70E740481C1C}">
                <a14:useLocalDpi xmlns:a14="http://schemas.microsoft.com/office/drawing/2010/main" val="0"/>
              </a:ext>
            </a:extLst>
          </a:blip>
          <a:srcRect l="15625"/>
          <a:stretch/>
        </p:blipFill>
        <p:spPr>
          <a:xfrm rot="16200000">
            <a:off x="2667000" y="-2667000"/>
            <a:ext cx="6858000" cy="12192000"/>
          </a:xfrm>
          <a:prstGeom prst="rect">
            <a:avLst/>
          </a:prstGeom>
        </p:spPr>
      </p:pic>
      <p:sp>
        <p:nvSpPr>
          <p:cNvPr id="6" name="TextBox 5">
            <a:extLst>
              <a:ext uri="{FF2B5EF4-FFF2-40B4-BE49-F238E27FC236}">
                <a16:creationId xmlns:a16="http://schemas.microsoft.com/office/drawing/2014/main" id="{41C2F3DD-ABE5-F811-268A-E384C608B774}"/>
              </a:ext>
            </a:extLst>
          </p:cNvPr>
          <p:cNvSpPr txBox="1"/>
          <p:nvPr/>
        </p:nvSpPr>
        <p:spPr>
          <a:xfrm>
            <a:off x="451642" y="462687"/>
            <a:ext cx="7323139" cy="369332"/>
          </a:xfrm>
          <a:prstGeom prst="rect">
            <a:avLst/>
          </a:prstGeom>
          <a:noFill/>
        </p:spPr>
        <p:txBody>
          <a:bodyPr wrap="square">
            <a:spAutoFit/>
          </a:bodyPr>
          <a:lstStyle/>
          <a:p>
            <a:pPr algn="just"/>
            <a:r>
              <a:rPr lang="en-US" spc="300" dirty="0">
                <a:latin typeface="Poppins" panose="00000500000000000000" pitchFamily="2" charset="0"/>
                <a:cs typeface="Poppins" panose="00000500000000000000" pitchFamily="2" charset="0"/>
              </a:rPr>
              <a:t>REPORT ON THE TOP 5 QUARTERLY TRANSACTION.</a:t>
            </a:r>
          </a:p>
        </p:txBody>
      </p:sp>
      <p:sp>
        <p:nvSpPr>
          <p:cNvPr id="8" name="TextBox 7">
            <a:extLst>
              <a:ext uri="{FF2B5EF4-FFF2-40B4-BE49-F238E27FC236}">
                <a16:creationId xmlns:a16="http://schemas.microsoft.com/office/drawing/2014/main" id="{3FE10CCD-5AE2-4DF5-9834-D3198413117F}"/>
              </a:ext>
            </a:extLst>
          </p:cNvPr>
          <p:cNvSpPr txBox="1"/>
          <p:nvPr/>
        </p:nvSpPr>
        <p:spPr>
          <a:xfrm>
            <a:off x="419101" y="1851297"/>
            <a:ext cx="3357563" cy="1569660"/>
          </a:xfrm>
          <a:prstGeom prst="rect">
            <a:avLst/>
          </a:prstGeom>
          <a:noFill/>
        </p:spPr>
        <p:txBody>
          <a:bodyPr wrap="square">
            <a:spAutoFit/>
          </a:bodyPr>
          <a:lstStyle/>
          <a:p>
            <a:r>
              <a:rPr lang="en-US" sz="1200" dirty="0">
                <a:latin typeface="Poppins" panose="00000500000000000000" pitchFamily="2" charset="0"/>
                <a:cs typeface="Poppins" panose="00000500000000000000" pitchFamily="2" charset="0"/>
              </a:rPr>
              <a:t>1) NIP Credit Request Transaction remains the dominant channel in terms of transaction value, accounting for ₦142,000 or approximately 71.5% of the total top 5 transaction volume. However, this channel does not generate fee income because it is an inward credit transfer.</a:t>
            </a:r>
          </a:p>
        </p:txBody>
      </p:sp>
      <p:sp>
        <p:nvSpPr>
          <p:cNvPr id="10" name="TextBox 9">
            <a:extLst>
              <a:ext uri="{FF2B5EF4-FFF2-40B4-BE49-F238E27FC236}">
                <a16:creationId xmlns:a16="http://schemas.microsoft.com/office/drawing/2014/main" id="{9860CE7D-2BE1-C296-9192-9F004CFC39EB}"/>
              </a:ext>
            </a:extLst>
          </p:cNvPr>
          <p:cNvSpPr txBox="1"/>
          <p:nvPr/>
        </p:nvSpPr>
        <p:spPr>
          <a:xfrm>
            <a:off x="4417218" y="1851297"/>
            <a:ext cx="3357563" cy="1200329"/>
          </a:xfrm>
          <a:prstGeom prst="rect">
            <a:avLst/>
          </a:prstGeom>
          <a:noFill/>
        </p:spPr>
        <p:txBody>
          <a:bodyPr wrap="square">
            <a:spAutoFit/>
          </a:bodyPr>
          <a:lstStyle/>
          <a:p>
            <a:r>
              <a:rPr lang="en-US" sz="1200" dirty="0">
                <a:latin typeface="Poppins" panose="00000500000000000000" pitchFamily="2" charset="0"/>
                <a:cs typeface="Poppins" panose="00000500000000000000" pitchFamily="2" charset="0"/>
              </a:rPr>
              <a:t>2) </a:t>
            </a:r>
            <a:r>
              <a:rPr lang="en-US" sz="1200" dirty="0" err="1">
                <a:latin typeface="Poppins" panose="00000500000000000000" pitchFamily="2" charset="0"/>
                <a:cs typeface="Poppins" panose="00000500000000000000" pitchFamily="2" charset="0"/>
              </a:rPr>
              <a:t>EazyPay</a:t>
            </a:r>
            <a:r>
              <a:rPr lang="en-US" sz="1200" dirty="0">
                <a:latin typeface="Poppins" panose="00000500000000000000" pitchFamily="2" charset="0"/>
                <a:cs typeface="Poppins" panose="00000500000000000000" pitchFamily="2" charset="0"/>
              </a:rPr>
              <a:t> Outward Funds Transfer is the second-largest channel, contributing ₦34,100 in volume and ₦268.76 in fees. This indicates a fee yield of 0.79%, making it the most profitable channel in this group based on fee-to-volume ratio.</a:t>
            </a:r>
          </a:p>
        </p:txBody>
      </p:sp>
      <p:sp>
        <p:nvSpPr>
          <p:cNvPr id="12" name="TextBox 11">
            <a:extLst>
              <a:ext uri="{FF2B5EF4-FFF2-40B4-BE49-F238E27FC236}">
                <a16:creationId xmlns:a16="http://schemas.microsoft.com/office/drawing/2014/main" id="{C03E7B0D-F179-BB78-00FB-2B49F7E1361F}"/>
              </a:ext>
            </a:extLst>
          </p:cNvPr>
          <p:cNvSpPr txBox="1"/>
          <p:nvPr/>
        </p:nvSpPr>
        <p:spPr>
          <a:xfrm>
            <a:off x="8415338" y="1851297"/>
            <a:ext cx="3357563" cy="1569660"/>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3) Bills Payment Services, including general bill payments and specific top-ups like EKEDC Prepaid, together contribute ₦15,400 in volume and ₦200 in fees. This category, while lower in total volume, shows consistent fee income, indicating regular customer use for utility and prepaid services.</a:t>
            </a:r>
          </a:p>
        </p:txBody>
      </p:sp>
      <p:sp>
        <p:nvSpPr>
          <p:cNvPr id="14" name="TextBox 13">
            <a:extLst>
              <a:ext uri="{FF2B5EF4-FFF2-40B4-BE49-F238E27FC236}">
                <a16:creationId xmlns:a16="http://schemas.microsoft.com/office/drawing/2014/main" id="{8AD221C8-4C32-6E7C-F48D-A30D51D74CF6}"/>
              </a:ext>
            </a:extLst>
          </p:cNvPr>
          <p:cNvSpPr txBox="1"/>
          <p:nvPr/>
        </p:nvSpPr>
        <p:spPr>
          <a:xfrm>
            <a:off x="1905001" y="3864426"/>
            <a:ext cx="3357562" cy="1200329"/>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4) NIP Credit Transactions, though smaller in total volume (₦7,000), generate no fee income. This may warrant a review to assess potential revenue opportunities or ensure cost-effective servicing.</a:t>
            </a:r>
          </a:p>
        </p:txBody>
      </p:sp>
      <p:sp>
        <p:nvSpPr>
          <p:cNvPr id="16" name="TextBox 15">
            <a:extLst>
              <a:ext uri="{FF2B5EF4-FFF2-40B4-BE49-F238E27FC236}">
                <a16:creationId xmlns:a16="http://schemas.microsoft.com/office/drawing/2014/main" id="{AE4AF099-6428-C11C-C17F-FA564F3B8462}"/>
              </a:ext>
            </a:extLst>
          </p:cNvPr>
          <p:cNvSpPr txBox="1"/>
          <p:nvPr/>
        </p:nvSpPr>
        <p:spPr>
          <a:xfrm>
            <a:off x="6929439" y="3864426"/>
            <a:ext cx="3357562" cy="1200329"/>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5) Bills Payment- EKEDC</a:t>
            </a:r>
          </a:p>
          <a:p>
            <a:pPr algn="just"/>
            <a:r>
              <a:rPr lang="en-US" sz="1200" dirty="0">
                <a:latin typeface="Poppins" panose="00000500000000000000" pitchFamily="2" charset="0"/>
                <a:cs typeface="Poppins" panose="00000500000000000000" pitchFamily="2" charset="0"/>
              </a:rPr>
              <a:t>Eko electricity is the least performing among the top 5 quarterly transaction but we can say it performed well and we should encourage more of bills payment because it comes with a fee.</a:t>
            </a:r>
          </a:p>
        </p:txBody>
      </p:sp>
    </p:spTree>
    <p:extLst>
      <p:ext uri="{BB962C8B-B14F-4D97-AF65-F5344CB8AC3E}">
        <p14:creationId xmlns:p14="http://schemas.microsoft.com/office/powerpoint/2010/main" val="2498530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background with geometric shapes&#10;&#10;AI-generated content may be incorrect.">
            <a:extLst>
              <a:ext uri="{FF2B5EF4-FFF2-40B4-BE49-F238E27FC236}">
                <a16:creationId xmlns:a16="http://schemas.microsoft.com/office/drawing/2014/main" id="{72EE76CA-90A4-40CB-7236-BE42D51C98D1}"/>
              </a:ext>
            </a:extLst>
          </p:cNvPr>
          <p:cNvPicPr>
            <a:picLocks noChangeAspect="1"/>
          </p:cNvPicPr>
          <p:nvPr/>
        </p:nvPicPr>
        <p:blipFill>
          <a:blip r:embed="rId2">
            <a:extLst>
              <a:ext uri="{28A0092B-C50C-407E-A947-70E740481C1C}">
                <a14:useLocalDpi xmlns:a14="http://schemas.microsoft.com/office/drawing/2010/main" val="0"/>
              </a:ext>
            </a:extLst>
          </a:blip>
          <a:srcRect l="15625"/>
          <a:stretch/>
        </p:blipFill>
        <p:spPr>
          <a:xfrm rot="16200000">
            <a:off x="2670544" y="-2667000"/>
            <a:ext cx="6858000" cy="12192000"/>
          </a:xfrm>
          <a:prstGeom prst="rect">
            <a:avLst/>
          </a:prstGeom>
        </p:spPr>
      </p:pic>
      <p:graphicFrame>
        <p:nvGraphicFramePr>
          <p:cNvPr id="3" name="Chart 2">
            <a:extLst>
              <a:ext uri="{FF2B5EF4-FFF2-40B4-BE49-F238E27FC236}">
                <a16:creationId xmlns:a16="http://schemas.microsoft.com/office/drawing/2014/main" id="{EA24BDF7-A097-D92F-3C07-15187DAEE8AD}"/>
              </a:ext>
            </a:extLst>
          </p:cNvPr>
          <p:cNvGraphicFramePr>
            <a:graphicFrameLocks/>
          </p:cNvGraphicFramePr>
          <p:nvPr>
            <p:extLst>
              <p:ext uri="{D42A27DB-BD31-4B8C-83A1-F6EECF244321}">
                <p14:modId xmlns:p14="http://schemas.microsoft.com/office/powerpoint/2010/main" val="2885610157"/>
              </p:ext>
            </p:extLst>
          </p:nvPr>
        </p:nvGraphicFramePr>
        <p:xfrm>
          <a:off x="678455" y="585116"/>
          <a:ext cx="5417545" cy="39549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375A9FC4-3B58-5698-EEC6-CB2EF4C62120}"/>
              </a:ext>
            </a:extLst>
          </p:cNvPr>
          <p:cNvGraphicFramePr>
            <a:graphicFrameLocks/>
          </p:cNvGraphicFramePr>
          <p:nvPr>
            <p:extLst>
              <p:ext uri="{D42A27DB-BD31-4B8C-83A1-F6EECF244321}">
                <p14:modId xmlns:p14="http://schemas.microsoft.com/office/powerpoint/2010/main" val="2959594426"/>
              </p:ext>
            </p:extLst>
          </p:nvPr>
        </p:nvGraphicFramePr>
        <p:xfrm>
          <a:off x="6528392" y="585116"/>
          <a:ext cx="5199718" cy="3604112"/>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28F17655-FF11-05BC-F297-7A9107770D4C}"/>
              </a:ext>
            </a:extLst>
          </p:cNvPr>
          <p:cNvSpPr txBox="1"/>
          <p:nvPr/>
        </p:nvSpPr>
        <p:spPr>
          <a:xfrm>
            <a:off x="1747728" y="5441637"/>
            <a:ext cx="8327952" cy="461665"/>
          </a:xfrm>
          <a:prstGeom prst="rect">
            <a:avLst/>
          </a:prstGeom>
          <a:noFill/>
        </p:spPr>
        <p:txBody>
          <a:bodyPr wrap="square">
            <a:spAutoFit/>
          </a:bodyPr>
          <a:lstStyle/>
          <a:p>
            <a:pPr algn="just"/>
            <a:r>
              <a:rPr lang="en-US" sz="1200" dirty="0">
                <a:latin typeface="Poppins" panose="00000500000000000000" pitchFamily="2" charset="0"/>
                <a:cs typeface="Poppins" panose="00000500000000000000" pitchFamily="2" charset="0"/>
              </a:rPr>
              <a:t>The Head Office Branch has the highest amount of transaction for the 1st quarter, it also has the highest fee. This analysis shows a correlation between the total transaction and the fee charged for the 1st quarter.</a:t>
            </a:r>
          </a:p>
        </p:txBody>
      </p:sp>
      <p:sp>
        <p:nvSpPr>
          <p:cNvPr id="7" name="Rectangle 6">
            <a:extLst>
              <a:ext uri="{FF2B5EF4-FFF2-40B4-BE49-F238E27FC236}">
                <a16:creationId xmlns:a16="http://schemas.microsoft.com/office/drawing/2014/main" id="{D3647980-7B1B-89FC-C718-D676DED3B792}"/>
              </a:ext>
            </a:extLst>
          </p:cNvPr>
          <p:cNvSpPr/>
          <p:nvPr/>
        </p:nvSpPr>
        <p:spPr>
          <a:xfrm>
            <a:off x="1360969" y="5125218"/>
            <a:ext cx="9101470" cy="1147665"/>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83113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3C2B0-5C87-F377-F790-05F93F858016}"/>
            </a:ext>
          </a:extLst>
        </p:cNvPr>
        <p:cNvGrpSpPr/>
        <p:nvPr/>
      </p:nvGrpSpPr>
      <p:grpSpPr>
        <a:xfrm>
          <a:off x="0" y="0"/>
          <a:ext cx="0" cy="0"/>
          <a:chOff x="0" y="0"/>
          <a:chExt cx="0" cy="0"/>
        </a:xfrm>
      </p:grpSpPr>
      <p:pic>
        <p:nvPicPr>
          <p:cNvPr id="3" name="Picture 2" descr="A close up of a blue and white triangle&#10;&#10;AI-generated content may be incorrect.">
            <a:extLst>
              <a:ext uri="{FF2B5EF4-FFF2-40B4-BE49-F238E27FC236}">
                <a16:creationId xmlns:a16="http://schemas.microsoft.com/office/drawing/2014/main" id="{5365423C-0848-11E8-0B83-511D5B059ABC}"/>
              </a:ext>
            </a:extLst>
          </p:cNvPr>
          <p:cNvPicPr>
            <a:picLocks noChangeAspect="1"/>
          </p:cNvPicPr>
          <p:nvPr/>
        </p:nvPicPr>
        <p:blipFill>
          <a:blip r:embed="rId2">
            <a:extLst>
              <a:ext uri="{28A0092B-C50C-407E-A947-70E740481C1C}">
                <a14:useLocalDpi xmlns:a14="http://schemas.microsoft.com/office/drawing/2010/main" val="0"/>
              </a:ext>
            </a:extLst>
          </a:blip>
          <a:srcRect l="9944" b="11351"/>
          <a:stretch/>
        </p:blipFill>
        <p:spPr>
          <a:xfrm>
            <a:off x="0" y="-1"/>
            <a:ext cx="12192000" cy="6858001"/>
          </a:xfrm>
          <a:prstGeom prst="rect">
            <a:avLst/>
          </a:prstGeom>
        </p:spPr>
      </p:pic>
      <p:sp>
        <p:nvSpPr>
          <p:cNvPr id="7" name="TextBox 6">
            <a:extLst>
              <a:ext uri="{FF2B5EF4-FFF2-40B4-BE49-F238E27FC236}">
                <a16:creationId xmlns:a16="http://schemas.microsoft.com/office/drawing/2014/main" id="{4F9AACEC-C6EB-A161-D442-B79FAD6ED811}"/>
              </a:ext>
            </a:extLst>
          </p:cNvPr>
          <p:cNvSpPr txBox="1"/>
          <p:nvPr/>
        </p:nvSpPr>
        <p:spPr>
          <a:xfrm rot="3171865">
            <a:off x="1159310" y="4200310"/>
            <a:ext cx="3223485" cy="369332"/>
          </a:xfrm>
          <a:prstGeom prst="rect">
            <a:avLst/>
          </a:prstGeom>
          <a:noFill/>
        </p:spPr>
        <p:txBody>
          <a:bodyPr wrap="square">
            <a:spAutoFit/>
          </a:bodyPr>
          <a:lstStyle/>
          <a:p>
            <a:pPr algn="just"/>
            <a:r>
              <a:rPr lang="en-US" spc="300" dirty="0">
                <a:solidFill>
                  <a:srgbClr val="142342"/>
                </a:solidFill>
                <a:latin typeface="Poppins" panose="00000500000000000000" pitchFamily="2" charset="0"/>
                <a:cs typeface="Poppins" panose="00000500000000000000" pitchFamily="2" charset="0"/>
              </a:rPr>
              <a:t>RECOMMENDATION</a:t>
            </a:r>
            <a:endParaRPr lang="en-US" sz="1800" spc="300" dirty="0">
              <a:solidFill>
                <a:srgbClr val="142342"/>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94C92DBC-BE04-7B7F-DA97-02DA900C97D1}"/>
              </a:ext>
            </a:extLst>
          </p:cNvPr>
          <p:cNvSpPr txBox="1"/>
          <p:nvPr/>
        </p:nvSpPr>
        <p:spPr>
          <a:xfrm>
            <a:off x="6395329" y="3383940"/>
            <a:ext cx="5376530" cy="1144159"/>
          </a:xfrm>
          <a:prstGeom prst="rect">
            <a:avLst/>
          </a:prstGeom>
          <a:noFill/>
        </p:spPr>
        <p:txBody>
          <a:bodyPr wrap="square">
            <a:spAutoFit/>
          </a:bodyPr>
          <a:lstStyle/>
          <a:p>
            <a:pPr lvl="0">
              <a:lnSpc>
                <a:spcPct val="115000"/>
              </a:lnSpc>
              <a:spcAft>
                <a:spcPts val="800"/>
              </a:spcAft>
              <a:tabLst>
                <a:tab pos="457200" algn="l"/>
              </a:tabLst>
            </a:pP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Salary Payment into Tofa Bank Accounts</a:t>
            </a:r>
            <a:br>
              <a:rPr lang="en-US" sz="1200" kern="100" dirty="0">
                <a:effectLst/>
                <a:latin typeface="Poppins" panose="00000500000000000000" pitchFamily="2" charset="0"/>
                <a:ea typeface="Calibri" panose="020F0502020204030204" pitchFamily="34" charset="0"/>
                <a:cs typeface="Poppins" panose="00000500000000000000" pitchFamily="2" charset="0"/>
              </a:rPr>
            </a:br>
            <a:r>
              <a:rPr lang="en-US" sz="1200" kern="100" dirty="0">
                <a:effectLst/>
                <a:latin typeface="Poppins" panose="00000500000000000000" pitchFamily="2" charset="0"/>
                <a:ea typeface="Calibri" panose="020F0502020204030204" pitchFamily="34" charset="0"/>
                <a:cs typeface="Poppins" panose="00000500000000000000" pitchFamily="2" charset="0"/>
              </a:rPr>
              <a:t>To boost customer engagement with the Tofa Bank mobile application, it is advised that staff salaries be paid directly into their Tofa Bank accounts. This initiative will promote the consistent use of the bank's digital service</a:t>
            </a:r>
            <a:r>
              <a:rPr lang="en-US" sz="1200" kern="100" dirty="0">
                <a:latin typeface="Poppins" panose="00000500000000000000" pitchFamily="2" charset="0"/>
                <a:ea typeface="Calibri" panose="020F0502020204030204" pitchFamily="34" charset="0"/>
                <a:cs typeface="Poppins" panose="00000500000000000000" pitchFamily="2" charset="0"/>
              </a:rPr>
              <a:t>.</a:t>
            </a:r>
            <a:endParaRPr lang="en-US" sz="1200" kern="100" dirty="0">
              <a:effectLst/>
              <a:latin typeface="Poppins" panose="00000500000000000000" pitchFamily="2" charset="0"/>
              <a:ea typeface="Calibri" panose="020F0502020204030204" pitchFamily="34" charset="0"/>
              <a:cs typeface="Poppins" panose="00000500000000000000" pitchFamily="2" charset="0"/>
            </a:endParaRPr>
          </a:p>
        </p:txBody>
      </p:sp>
      <p:sp>
        <p:nvSpPr>
          <p:cNvPr id="5" name="TextBox 4">
            <a:extLst>
              <a:ext uri="{FF2B5EF4-FFF2-40B4-BE49-F238E27FC236}">
                <a16:creationId xmlns:a16="http://schemas.microsoft.com/office/drawing/2014/main" id="{14178F37-D322-6078-6EBA-C937CE6A0604}"/>
              </a:ext>
            </a:extLst>
          </p:cNvPr>
          <p:cNvSpPr txBox="1"/>
          <p:nvPr/>
        </p:nvSpPr>
        <p:spPr>
          <a:xfrm>
            <a:off x="6310268" y="941973"/>
            <a:ext cx="5373135" cy="1993623"/>
          </a:xfrm>
          <a:prstGeom prst="rect">
            <a:avLst/>
          </a:prstGeom>
          <a:noFill/>
        </p:spPr>
        <p:txBody>
          <a:bodyPr wrap="square">
            <a:spAutoFit/>
          </a:bodyPr>
          <a:lstStyle/>
          <a:p>
            <a:pPr lvl="0">
              <a:lnSpc>
                <a:spcPct val="115000"/>
              </a:lnSpc>
              <a:spcAft>
                <a:spcPts val="800"/>
              </a:spcAft>
              <a:tabLst>
                <a:tab pos="457200" algn="l"/>
              </a:tabLst>
            </a:pP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Implementation of CBN-Mandated Charges on NIP Credit Transactions</a:t>
            </a:r>
            <a:br>
              <a:rPr lang="en-US" sz="1200" kern="100" dirty="0">
                <a:effectLst/>
                <a:latin typeface="Poppins" panose="00000500000000000000" pitchFamily="2" charset="0"/>
                <a:ea typeface="Calibri" panose="020F0502020204030204" pitchFamily="34" charset="0"/>
                <a:cs typeface="Poppins" panose="00000500000000000000" pitchFamily="2" charset="0"/>
              </a:rPr>
            </a:br>
            <a:r>
              <a:rPr lang="en-US" sz="1200" kern="100" dirty="0">
                <a:effectLst/>
                <a:latin typeface="Poppins" panose="00000500000000000000" pitchFamily="2" charset="0"/>
                <a:ea typeface="Calibri" panose="020F0502020204030204" pitchFamily="34" charset="0"/>
                <a:cs typeface="Poppins" panose="00000500000000000000" pitchFamily="2" charset="0"/>
              </a:rPr>
              <a:t>The NIP Credit transaction recorded the highest transaction volume in Q1; however, it currently does not attract any charges. According to the CBN policy, every credit transaction above ₦10,000 should incur a ₦50 charge. It is recommended that the software development team update the system to ensure compliance, so all credit transactions exceeding ₦10,000 are automatically charged the applicable fee</a:t>
            </a:r>
            <a:r>
              <a:rPr lang="en-US" sz="1200" kern="100" dirty="0">
                <a:latin typeface="Poppins" panose="00000500000000000000" pitchFamily="2" charset="0"/>
                <a:ea typeface="Calibri" panose="020F0502020204030204" pitchFamily="34" charset="0"/>
                <a:cs typeface="Poppins" panose="00000500000000000000" pitchFamily="2" charset="0"/>
              </a:rPr>
              <a:t>.</a:t>
            </a:r>
            <a:endParaRPr lang="en-US" sz="1200" kern="100" dirty="0">
              <a:effectLst/>
              <a:latin typeface="Poppins" panose="00000500000000000000" pitchFamily="2" charset="0"/>
              <a:ea typeface="Calibri" panose="020F0502020204030204" pitchFamily="34" charset="0"/>
              <a:cs typeface="Poppins" panose="00000500000000000000" pitchFamily="2" charset="0"/>
            </a:endParaRPr>
          </a:p>
        </p:txBody>
      </p:sp>
      <p:sp>
        <p:nvSpPr>
          <p:cNvPr id="6" name="TextBox 5">
            <a:extLst>
              <a:ext uri="{FF2B5EF4-FFF2-40B4-BE49-F238E27FC236}">
                <a16:creationId xmlns:a16="http://schemas.microsoft.com/office/drawing/2014/main" id="{F60E5D3B-E841-7B71-553F-D735C8A01929}"/>
              </a:ext>
            </a:extLst>
          </p:cNvPr>
          <p:cNvSpPr txBox="1"/>
          <p:nvPr/>
        </p:nvSpPr>
        <p:spPr>
          <a:xfrm>
            <a:off x="6395329" y="4796967"/>
            <a:ext cx="5376530" cy="1144159"/>
          </a:xfrm>
          <a:prstGeom prst="rect">
            <a:avLst/>
          </a:prstGeom>
          <a:noFill/>
        </p:spPr>
        <p:txBody>
          <a:bodyPr wrap="square">
            <a:spAutoFit/>
          </a:bodyPr>
          <a:lstStyle/>
          <a:p>
            <a:pPr lvl="0">
              <a:lnSpc>
                <a:spcPct val="115000"/>
              </a:lnSpc>
              <a:spcAft>
                <a:spcPts val="800"/>
              </a:spcAft>
              <a:tabLst>
                <a:tab pos="457200" algn="l"/>
              </a:tabLst>
            </a:pP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Promotion of </a:t>
            </a:r>
            <a:r>
              <a:rPr lang="en-US" sz="1200" b="1" kern="100" dirty="0" err="1">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EazyPay</a:t>
            </a: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 Outward Transactions</a:t>
            </a:r>
            <a:br>
              <a:rPr lang="en-US" sz="1200" kern="100" dirty="0">
                <a:effectLst/>
                <a:latin typeface="Poppins" panose="00000500000000000000" pitchFamily="2" charset="0"/>
                <a:ea typeface="Calibri" panose="020F0502020204030204" pitchFamily="34" charset="0"/>
                <a:cs typeface="Poppins" panose="00000500000000000000" pitchFamily="2" charset="0"/>
              </a:rPr>
            </a:br>
            <a:r>
              <a:rPr lang="en-US" sz="1200" kern="100" dirty="0">
                <a:effectLst/>
                <a:latin typeface="Poppins" panose="00000500000000000000" pitchFamily="2" charset="0"/>
                <a:ea typeface="Calibri" panose="020F0502020204030204" pitchFamily="34" charset="0"/>
                <a:cs typeface="Poppins" panose="00000500000000000000" pitchFamily="2" charset="0"/>
              </a:rPr>
              <a:t>The bank should encourage the use of the </a:t>
            </a:r>
            <a:r>
              <a:rPr lang="en-US" sz="1200" kern="100" dirty="0" err="1">
                <a:effectLst/>
                <a:latin typeface="Poppins" panose="00000500000000000000" pitchFamily="2" charset="0"/>
                <a:ea typeface="Calibri" panose="020F0502020204030204" pitchFamily="34" charset="0"/>
                <a:cs typeface="Poppins" panose="00000500000000000000" pitchFamily="2" charset="0"/>
              </a:rPr>
              <a:t>EazyPay</a:t>
            </a:r>
            <a:r>
              <a:rPr lang="en-US" sz="1200" kern="100" dirty="0">
                <a:effectLst/>
                <a:latin typeface="Poppins" panose="00000500000000000000" pitchFamily="2" charset="0"/>
                <a:ea typeface="Calibri" panose="020F0502020204030204" pitchFamily="34" charset="0"/>
                <a:cs typeface="Poppins" panose="00000500000000000000" pitchFamily="2" charset="0"/>
              </a:rPr>
              <a:t> outward feature within the mobile application. This service generates a fee for each transaction, thereby increasing the bank's revenue. Promotions or incentives can be used to drive user adoption.</a:t>
            </a:r>
          </a:p>
        </p:txBody>
      </p:sp>
      <p:sp>
        <p:nvSpPr>
          <p:cNvPr id="8" name="Rectangle 7">
            <a:extLst>
              <a:ext uri="{FF2B5EF4-FFF2-40B4-BE49-F238E27FC236}">
                <a16:creationId xmlns:a16="http://schemas.microsoft.com/office/drawing/2014/main" id="{5E72222E-7684-1BFB-3168-E611AB5E9A09}"/>
              </a:ext>
            </a:extLst>
          </p:cNvPr>
          <p:cNvSpPr/>
          <p:nvPr/>
        </p:nvSpPr>
        <p:spPr>
          <a:xfrm>
            <a:off x="6225209" y="781381"/>
            <a:ext cx="5543255" cy="238700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9F753F2-37B9-8C37-C122-0256568AF8E7}"/>
              </a:ext>
            </a:extLst>
          </p:cNvPr>
          <p:cNvSpPr/>
          <p:nvPr/>
        </p:nvSpPr>
        <p:spPr>
          <a:xfrm>
            <a:off x="6225209" y="3281808"/>
            <a:ext cx="5543255" cy="130602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4339845-FA6C-2157-4563-DEEC8F10C73C}"/>
              </a:ext>
            </a:extLst>
          </p:cNvPr>
          <p:cNvSpPr/>
          <p:nvPr/>
        </p:nvSpPr>
        <p:spPr>
          <a:xfrm>
            <a:off x="6225209" y="4695056"/>
            <a:ext cx="5543255" cy="130602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6108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983FA-A15A-563C-737E-CA8D6E3F7433}"/>
            </a:ext>
          </a:extLst>
        </p:cNvPr>
        <p:cNvGrpSpPr/>
        <p:nvPr/>
      </p:nvGrpSpPr>
      <p:grpSpPr>
        <a:xfrm>
          <a:off x="0" y="0"/>
          <a:ext cx="0" cy="0"/>
          <a:chOff x="0" y="0"/>
          <a:chExt cx="0" cy="0"/>
        </a:xfrm>
      </p:grpSpPr>
      <p:pic>
        <p:nvPicPr>
          <p:cNvPr id="3" name="Picture 2" descr="A close up of a blue and white triangle&#10;&#10;AI-generated content may be incorrect.">
            <a:extLst>
              <a:ext uri="{FF2B5EF4-FFF2-40B4-BE49-F238E27FC236}">
                <a16:creationId xmlns:a16="http://schemas.microsoft.com/office/drawing/2014/main" id="{209356F1-F9CD-0DD3-C7D9-25FC32E1B607}"/>
              </a:ext>
            </a:extLst>
          </p:cNvPr>
          <p:cNvPicPr>
            <a:picLocks noChangeAspect="1"/>
          </p:cNvPicPr>
          <p:nvPr/>
        </p:nvPicPr>
        <p:blipFill>
          <a:blip r:embed="rId2">
            <a:extLst>
              <a:ext uri="{28A0092B-C50C-407E-A947-70E740481C1C}">
                <a14:useLocalDpi xmlns:a14="http://schemas.microsoft.com/office/drawing/2010/main" val="0"/>
              </a:ext>
            </a:extLst>
          </a:blip>
          <a:srcRect l="9944" b="11351"/>
          <a:stretch/>
        </p:blipFill>
        <p:spPr>
          <a:xfrm>
            <a:off x="0" y="-1"/>
            <a:ext cx="12192000" cy="6858001"/>
          </a:xfrm>
          <a:prstGeom prst="rect">
            <a:avLst/>
          </a:prstGeom>
        </p:spPr>
      </p:pic>
      <p:sp>
        <p:nvSpPr>
          <p:cNvPr id="7" name="TextBox 6">
            <a:extLst>
              <a:ext uri="{FF2B5EF4-FFF2-40B4-BE49-F238E27FC236}">
                <a16:creationId xmlns:a16="http://schemas.microsoft.com/office/drawing/2014/main" id="{6BF691D0-59D5-C8DA-5F5C-39E9703CC7DD}"/>
              </a:ext>
            </a:extLst>
          </p:cNvPr>
          <p:cNvSpPr txBox="1"/>
          <p:nvPr/>
        </p:nvSpPr>
        <p:spPr>
          <a:xfrm rot="3171865">
            <a:off x="1036843" y="4111700"/>
            <a:ext cx="3223485" cy="369332"/>
          </a:xfrm>
          <a:prstGeom prst="rect">
            <a:avLst/>
          </a:prstGeom>
          <a:noFill/>
        </p:spPr>
        <p:txBody>
          <a:bodyPr wrap="square">
            <a:spAutoFit/>
          </a:bodyPr>
          <a:lstStyle/>
          <a:p>
            <a:pPr algn="just"/>
            <a:r>
              <a:rPr lang="en-US" spc="300" dirty="0">
                <a:solidFill>
                  <a:srgbClr val="142342"/>
                </a:solidFill>
                <a:latin typeface="Poppins" panose="00000500000000000000" pitchFamily="2" charset="0"/>
                <a:cs typeface="Poppins" panose="00000500000000000000" pitchFamily="2" charset="0"/>
              </a:rPr>
              <a:t>RECOMMENDATION</a:t>
            </a:r>
            <a:endParaRPr lang="en-US" sz="1800" spc="300" dirty="0">
              <a:solidFill>
                <a:srgbClr val="142342"/>
              </a:solidFill>
              <a:latin typeface="Poppins" panose="00000500000000000000" pitchFamily="2" charset="0"/>
              <a:cs typeface="Poppins" panose="00000500000000000000" pitchFamily="2" charset="0"/>
            </a:endParaRPr>
          </a:p>
        </p:txBody>
      </p:sp>
      <p:sp>
        <p:nvSpPr>
          <p:cNvPr id="8" name="Rectangle 7">
            <a:extLst>
              <a:ext uri="{FF2B5EF4-FFF2-40B4-BE49-F238E27FC236}">
                <a16:creationId xmlns:a16="http://schemas.microsoft.com/office/drawing/2014/main" id="{D6B555B7-DBC4-B369-8AC6-2D24C4BD16EF}"/>
              </a:ext>
            </a:extLst>
          </p:cNvPr>
          <p:cNvSpPr/>
          <p:nvPr/>
        </p:nvSpPr>
        <p:spPr>
          <a:xfrm>
            <a:off x="5297171" y="749574"/>
            <a:ext cx="5543255" cy="153635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3E35D31-EFC5-8846-7C82-74300B371A71}"/>
              </a:ext>
            </a:extLst>
          </p:cNvPr>
          <p:cNvSpPr/>
          <p:nvPr/>
        </p:nvSpPr>
        <p:spPr>
          <a:xfrm>
            <a:off x="5297171" y="2512172"/>
            <a:ext cx="5543255" cy="144998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BBCC8FD-10C8-10F2-8E11-B2E4995AB1C7}"/>
              </a:ext>
            </a:extLst>
          </p:cNvPr>
          <p:cNvSpPr/>
          <p:nvPr/>
        </p:nvSpPr>
        <p:spPr>
          <a:xfrm>
            <a:off x="5297171" y="4248580"/>
            <a:ext cx="5543255" cy="178537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DA8ED89-342B-3152-13F4-EBA724595D93}"/>
              </a:ext>
            </a:extLst>
          </p:cNvPr>
          <p:cNvSpPr txBox="1"/>
          <p:nvPr/>
        </p:nvSpPr>
        <p:spPr>
          <a:xfrm>
            <a:off x="5382232" y="813805"/>
            <a:ext cx="5543255" cy="1356525"/>
          </a:xfrm>
          <a:prstGeom prst="rect">
            <a:avLst/>
          </a:prstGeom>
          <a:noFill/>
        </p:spPr>
        <p:txBody>
          <a:bodyPr wrap="square">
            <a:spAutoFit/>
          </a:bodyPr>
          <a:lstStyle/>
          <a:p>
            <a:pPr lvl="0">
              <a:lnSpc>
                <a:spcPct val="115000"/>
              </a:lnSpc>
              <a:spcAft>
                <a:spcPts val="800"/>
              </a:spcAft>
              <a:tabLst>
                <a:tab pos="457200" algn="l"/>
              </a:tabLst>
            </a:pP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Revenue Transparency on Airtime and Data Purchases</a:t>
            </a:r>
            <a:br>
              <a:rPr lang="en-US" sz="1200" kern="100" dirty="0">
                <a:effectLst/>
                <a:latin typeface="Poppins" panose="00000500000000000000" pitchFamily="2" charset="0"/>
                <a:ea typeface="Calibri" panose="020F0502020204030204" pitchFamily="34" charset="0"/>
                <a:cs typeface="Poppins" panose="00000500000000000000" pitchFamily="2" charset="0"/>
              </a:rPr>
            </a:br>
            <a:r>
              <a:rPr lang="en-US" sz="1200" kern="100" dirty="0">
                <a:effectLst/>
                <a:latin typeface="Poppins" panose="00000500000000000000" pitchFamily="2" charset="0"/>
                <a:ea typeface="Calibri" panose="020F0502020204030204" pitchFamily="34" charset="0"/>
                <a:cs typeface="Poppins" panose="00000500000000000000" pitchFamily="2" charset="0"/>
              </a:rPr>
              <a:t>It is recommended that the software be enhanced to display a breakdown of the percentage of revenue shared between the bank and telecommunications companies on airtime and data purchases. This will provide clarity on the actual earnings the bank derives from these services.</a:t>
            </a:r>
          </a:p>
        </p:txBody>
      </p:sp>
      <p:sp>
        <p:nvSpPr>
          <p:cNvPr id="11" name="TextBox 10">
            <a:extLst>
              <a:ext uri="{FF2B5EF4-FFF2-40B4-BE49-F238E27FC236}">
                <a16:creationId xmlns:a16="http://schemas.microsoft.com/office/drawing/2014/main" id="{83BDE15D-B7CC-FDE2-55F1-7913F12DA332}"/>
              </a:ext>
            </a:extLst>
          </p:cNvPr>
          <p:cNvSpPr txBox="1"/>
          <p:nvPr/>
        </p:nvSpPr>
        <p:spPr>
          <a:xfrm>
            <a:off x="5297171" y="4296366"/>
            <a:ext cx="5543255" cy="1568891"/>
          </a:xfrm>
          <a:prstGeom prst="rect">
            <a:avLst/>
          </a:prstGeom>
          <a:noFill/>
        </p:spPr>
        <p:txBody>
          <a:bodyPr wrap="square">
            <a:spAutoFit/>
          </a:bodyPr>
          <a:lstStyle/>
          <a:p>
            <a:pPr lvl="0">
              <a:lnSpc>
                <a:spcPct val="115000"/>
              </a:lnSpc>
              <a:spcAft>
                <a:spcPts val="800"/>
              </a:spcAft>
              <a:tabLst>
                <a:tab pos="457200" algn="l"/>
              </a:tabLst>
            </a:pP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Expansion of Bill Payment Services</a:t>
            </a:r>
            <a:br>
              <a:rPr lang="en-US" sz="1200" kern="100" dirty="0">
                <a:effectLst/>
                <a:latin typeface="Poppins" panose="00000500000000000000" pitchFamily="2" charset="0"/>
                <a:ea typeface="Calibri" panose="020F0502020204030204" pitchFamily="34" charset="0"/>
                <a:cs typeface="Poppins" panose="00000500000000000000" pitchFamily="2" charset="0"/>
              </a:rPr>
            </a:br>
            <a:r>
              <a:rPr lang="en-US" sz="1200" kern="100" dirty="0">
                <a:effectLst/>
                <a:latin typeface="Poppins" panose="00000500000000000000" pitchFamily="2" charset="0"/>
                <a:ea typeface="Calibri" panose="020F0502020204030204" pitchFamily="34" charset="0"/>
                <a:cs typeface="Poppins" panose="00000500000000000000" pitchFamily="2" charset="0"/>
              </a:rPr>
              <a:t>Bill payments through the app have shown steady income potential. To maximize this, the bank should seek to expand its bill payment offerings by partnering with more utility service providers—such as those for Airtime, DSTV, and electricity subscriptions. Additionally, introducing new payment options like JAMB scratch card purchases can further increase revenue from bill payments.</a:t>
            </a:r>
          </a:p>
        </p:txBody>
      </p:sp>
      <p:sp>
        <p:nvSpPr>
          <p:cNvPr id="12" name="TextBox 11">
            <a:extLst>
              <a:ext uri="{FF2B5EF4-FFF2-40B4-BE49-F238E27FC236}">
                <a16:creationId xmlns:a16="http://schemas.microsoft.com/office/drawing/2014/main" id="{197290B6-55D8-13A5-A1DA-2DF10D13BDC3}"/>
              </a:ext>
            </a:extLst>
          </p:cNvPr>
          <p:cNvSpPr txBox="1"/>
          <p:nvPr/>
        </p:nvSpPr>
        <p:spPr>
          <a:xfrm>
            <a:off x="5297171" y="2659915"/>
            <a:ext cx="5543255" cy="1144159"/>
          </a:xfrm>
          <a:prstGeom prst="rect">
            <a:avLst/>
          </a:prstGeom>
          <a:noFill/>
        </p:spPr>
        <p:txBody>
          <a:bodyPr wrap="square">
            <a:spAutoFit/>
          </a:bodyPr>
          <a:lstStyle/>
          <a:p>
            <a:pPr lvl="0">
              <a:lnSpc>
                <a:spcPct val="115000"/>
              </a:lnSpc>
              <a:spcAft>
                <a:spcPts val="800"/>
              </a:spcAft>
              <a:tabLst>
                <a:tab pos="457200" algn="l"/>
              </a:tabLst>
            </a:pPr>
            <a:r>
              <a:rPr lang="en-US" sz="1200" b="1" kern="100" dirty="0">
                <a:solidFill>
                  <a:schemeClr val="accent1">
                    <a:lumMod val="50000"/>
                  </a:schemeClr>
                </a:solidFill>
                <a:effectLst/>
                <a:latin typeface="Poppins" panose="00000500000000000000" pitchFamily="2" charset="0"/>
                <a:ea typeface="Calibri" panose="020F0502020204030204" pitchFamily="34" charset="0"/>
                <a:cs typeface="Poppins" panose="00000500000000000000" pitchFamily="2" charset="0"/>
              </a:rPr>
              <a:t>Promotion of Profitable Transaction Channels</a:t>
            </a:r>
            <a:br>
              <a:rPr lang="en-US" sz="1200" kern="100" dirty="0">
                <a:effectLst/>
                <a:latin typeface="Poppins" panose="00000500000000000000" pitchFamily="2" charset="0"/>
                <a:ea typeface="Calibri" panose="020F0502020204030204" pitchFamily="34" charset="0"/>
                <a:cs typeface="Poppins" panose="00000500000000000000" pitchFamily="2" charset="0"/>
              </a:rPr>
            </a:br>
            <a:r>
              <a:rPr lang="en-US" sz="1200" kern="100" dirty="0">
                <a:effectLst/>
                <a:latin typeface="Poppins" panose="00000500000000000000" pitchFamily="2" charset="0"/>
                <a:ea typeface="Calibri" panose="020F0502020204030204" pitchFamily="34" charset="0"/>
                <a:cs typeface="Poppins" panose="00000500000000000000" pitchFamily="2" charset="0"/>
              </a:rPr>
              <a:t>Services such as </a:t>
            </a:r>
            <a:r>
              <a:rPr lang="en-US" sz="1200" kern="100" dirty="0" err="1">
                <a:effectLst/>
                <a:latin typeface="Poppins" panose="00000500000000000000" pitchFamily="2" charset="0"/>
                <a:ea typeface="Calibri" panose="020F0502020204030204" pitchFamily="34" charset="0"/>
                <a:cs typeface="Poppins" panose="00000500000000000000" pitchFamily="2" charset="0"/>
              </a:rPr>
              <a:t>EazyPay</a:t>
            </a:r>
            <a:r>
              <a:rPr lang="en-US" sz="1200" kern="100" dirty="0">
                <a:effectLst/>
                <a:latin typeface="Poppins" panose="00000500000000000000" pitchFamily="2" charset="0"/>
                <a:ea typeface="Calibri" panose="020F0502020204030204" pitchFamily="34" charset="0"/>
                <a:cs typeface="Poppins" panose="00000500000000000000" pitchFamily="2" charset="0"/>
              </a:rPr>
              <a:t> outward fund transfers, which currently generate higher fee income, should be actively promoted. Encouraging users to make interbank transfers via the mobile app will increase transaction volume and boost revenue.</a:t>
            </a:r>
          </a:p>
        </p:txBody>
      </p:sp>
    </p:spTree>
    <p:extLst>
      <p:ext uri="{BB962C8B-B14F-4D97-AF65-F5344CB8AC3E}">
        <p14:creationId xmlns:p14="http://schemas.microsoft.com/office/powerpoint/2010/main" val="741058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0142B-3BE3-87A4-1C47-6094EFB10AE8}"/>
            </a:ext>
          </a:extLst>
        </p:cNvPr>
        <p:cNvGrpSpPr/>
        <p:nvPr/>
      </p:nvGrpSpPr>
      <p:grpSpPr>
        <a:xfrm>
          <a:off x="0" y="0"/>
          <a:ext cx="0" cy="0"/>
          <a:chOff x="0" y="0"/>
          <a:chExt cx="0" cy="0"/>
        </a:xfrm>
      </p:grpSpPr>
      <p:pic>
        <p:nvPicPr>
          <p:cNvPr id="3" name="Picture 2" descr="A close up of a blue and white triangle&#10;&#10;AI-generated content may be incorrect.">
            <a:extLst>
              <a:ext uri="{FF2B5EF4-FFF2-40B4-BE49-F238E27FC236}">
                <a16:creationId xmlns:a16="http://schemas.microsoft.com/office/drawing/2014/main" id="{8E104443-0377-94D7-9F3D-5BCD1AF11FD8}"/>
              </a:ext>
            </a:extLst>
          </p:cNvPr>
          <p:cNvPicPr>
            <a:picLocks noChangeAspect="1"/>
          </p:cNvPicPr>
          <p:nvPr/>
        </p:nvPicPr>
        <p:blipFill>
          <a:blip r:embed="rId2">
            <a:extLst>
              <a:ext uri="{28A0092B-C50C-407E-A947-70E740481C1C}">
                <a14:useLocalDpi xmlns:a14="http://schemas.microsoft.com/office/drawing/2010/main" val="0"/>
              </a:ext>
            </a:extLst>
          </a:blip>
          <a:srcRect l="9944" b="11351"/>
          <a:stretch/>
        </p:blipFill>
        <p:spPr>
          <a:xfrm>
            <a:off x="0" y="-1"/>
            <a:ext cx="12192000" cy="6858001"/>
          </a:xfrm>
          <a:prstGeom prst="rect">
            <a:avLst/>
          </a:prstGeom>
        </p:spPr>
      </p:pic>
      <p:pic>
        <p:nvPicPr>
          <p:cNvPr id="10" name="Picture 9" descr="A computer and money on a table&#10;&#10;AI-generated content may be incorrect.">
            <a:extLst>
              <a:ext uri="{FF2B5EF4-FFF2-40B4-BE49-F238E27FC236}">
                <a16:creationId xmlns:a16="http://schemas.microsoft.com/office/drawing/2014/main" id="{3E7542B9-CF1F-3A80-EA1B-6E5499DA2B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3879576" y="711958"/>
            <a:ext cx="7633251" cy="5502255"/>
          </a:xfrm>
          <a:prstGeom prst="rect">
            <a:avLst/>
          </a:prstGeom>
          <a:ln>
            <a:noFill/>
          </a:ln>
          <a:effectLst>
            <a:outerShdw blurRad="292100" dist="139700" dir="2700000" algn="tl" rotWithShape="0">
              <a:srgbClr val="333333">
                <a:alpha val="65000"/>
              </a:srgbClr>
            </a:outerShdw>
          </a:effectLst>
        </p:spPr>
      </p:pic>
      <p:pic>
        <p:nvPicPr>
          <p:cNvPr id="4" name="Picture 3" descr="A white rectangular object with text&#10;&#10;AI-generated content may be incorrect.">
            <a:extLst>
              <a:ext uri="{FF2B5EF4-FFF2-40B4-BE49-F238E27FC236}">
                <a16:creationId xmlns:a16="http://schemas.microsoft.com/office/drawing/2014/main" id="{D7A529B3-2058-5E62-CEE9-C638312CD822}"/>
              </a:ext>
            </a:extLst>
          </p:cNvPr>
          <p:cNvPicPr>
            <a:picLocks noChangeAspect="1"/>
          </p:cNvPicPr>
          <p:nvPr/>
        </p:nvPicPr>
        <p:blipFill>
          <a:blip r:embed="rId4">
            <a:extLst>
              <a:ext uri="{28A0092B-C50C-407E-A947-70E740481C1C}">
                <a14:useLocalDpi xmlns:a14="http://schemas.microsoft.com/office/drawing/2010/main" val="0"/>
              </a:ext>
            </a:extLst>
          </a:blip>
          <a:srcRect t="21076"/>
          <a:stretch/>
        </p:blipFill>
        <p:spPr>
          <a:xfrm>
            <a:off x="1311965" y="643787"/>
            <a:ext cx="3183835" cy="5625861"/>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4A28BEDB-DB35-1806-BBD9-8F0FBA05FAFF}"/>
              </a:ext>
            </a:extLst>
          </p:cNvPr>
          <p:cNvSpPr txBox="1"/>
          <p:nvPr/>
        </p:nvSpPr>
        <p:spPr>
          <a:xfrm>
            <a:off x="1555818" y="4214620"/>
            <a:ext cx="2696128" cy="461665"/>
          </a:xfrm>
          <a:prstGeom prst="rect">
            <a:avLst/>
          </a:prstGeom>
          <a:noFill/>
        </p:spPr>
        <p:txBody>
          <a:bodyPr wrap="square">
            <a:spAutoFit/>
          </a:bodyPr>
          <a:lstStyle/>
          <a:p>
            <a:pPr algn="just"/>
            <a:r>
              <a:rPr lang="en-US" sz="2400" b="1" spc="600" dirty="0">
                <a:solidFill>
                  <a:srgbClr val="005FC9"/>
                </a:solidFill>
                <a:latin typeface="Poppins" panose="00000500000000000000" pitchFamily="2" charset="0"/>
                <a:cs typeface="Poppins" panose="00000500000000000000" pitchFamily="2" charset="0"/>
              </a:rPr>
              <a:t>THANK YOU</a:t>
            </a:r>
          </a:p>
        </p:txBody>
      </p:sp>
    </p:spTree>
    <p:extLst>
      <p:ext uri="{BB962C8B-B14F-4D97-AF65-F5344CB8AC3E}">
        <p14:creationId xmlns:p14="http://schemas.microsoft.com/office/powerpoint/2010/main" val="567864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1105</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Poppins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OMOFERIMI ALOBA</dc:creator>
  <cp:lastModifiedBy>Mayowa aloba</cp:lastModifiedBy>
  <cp:revision>14</cp:revision>
  <dcterms:created xsi:type="dcterms:W3CDTF">2025-04-12T16:14:10Z</dcterms:created>
  <dcterms:modified xsi:type="dcterms:W3CDTF">2025-04-21T13:03:42Z</dcterms:modified>
</cp:coreProperties>
</file>