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66" r:id="rId6"/>
    <p:sldId id="264" r:id="rId7"/>
    <p:sldId id="265"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A01E"/>
    <a:srgbClr val="14150F"/>
    <a:srgbClr val="330329"/>
    <a:srgbClr val="FEF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77" autoAdjust="0"/>
    <p:restoredTop sz="95256" autoAdjust="0"/>
  </p:normalViewPr>
  <p:slideViewPr>
    <p:cSldViewPr snapToGrid="0">
      <p:cViewPr varScale="1">
        <p:scale>
          <a:sx n="86" d="100"/>
          <a:sy n="86"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ownloads\QUARTERLYREPORT.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[QUARTERLYREPORT.xlsx]Quarterly Transaction by day!PivotTable2</c:name>
    <c:fmtId val="11"/>
  </c:pivotSource>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a:t>Total Transactions by Day of the Week</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'Quarterly Transaction by day'!$B$3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 Transaction by day'!$A$4:$A$11</c:f>
              <c:strCache>
                <c:ptCount val="7"/>
                <c:pt idx="0">
                  <c:v>Sunday</c:v>
                </c:pt>
                <c:pt idx="1">
                  <c:v>Saturday</c:v>
                </c:pt>
                <c:pt idx="2">
                  <c:v>Friday</c:v>
                </c:pt>
                <c:pt idx="3">
                  <c:v>Thursday</c:v>
                </c:pt>
                <c:pt idx="4">
                  <c:v>Wednesday</c:v>
                </c:pt>
                <c:pt idx="5">
                  <c:v>Tuesday</c:v>
                </c:pt>
                <c:pt idx="6">
                  <c:v>Monday</c:v>
                </c:pt>
              </c:strCache>
            </c:strRef>
          </c:cat>
          <c:val>
            <c:numRef>
              <c:f>'Quarterly Transaction by day'!$B$4:$B$11</c:f>
              <c:numCache>
                <c:formatCode>"₦"#,##0</c:formatCode>
                <c:ptCount val="7"/>
                <c:pt idx="0">
                  <c:v>700</c:v>
                </c:pt>
                <c:pt idx="1">
                  <c:v>800</c:v>
                </c:pt>
                <c:pt idx="2">
                  <c:v>68600</c:v>
                </c:pt>
                <c:pt idx="3">
                  <c:v>58050</c:v>
                </c:pt>
                <c:pt idx="4">
                  <c:v>48900</c:v>
                </c:pt>
                <c:pt idx="5">
                  <c:v>4200</c:v>
                </c:pt>
                <c:pt idx="6">
                  <c:v>28000</c:v>
                </c:pt>
              </c:numCache>
            </c:numRef>
          </c:val>
          <c:extLst>
            <c:ext xmlns:c16="http://schemas.microsoft.com/office/drawing/2014/chart" uri="{C3380CC4-5D6E-409C-BE32-E72D297353CC}">
              <c16:uniqueId val="{00000000-84A2-4DC4-A730-55D95538ADCB}"/>
            </c:ext>
          </c:extLst>
        </c:ser>
        <c:dLbls>
          <c:dLblPos val="outEnd"/>
          <c:showLegendKey val="0"/>
          <c:showVal val="1"/>
          <c:showCatName val="0"/>
          <c:showSerName val="0"/>
          <c:showPercent val="0"/>
          <c:showBubbleSize val="0"/>
        </c:dLbls>
        <c:gapWidth val="182"/>
        <c:axId val="1093153392"/>
        <c:axId val="1167923616"/>
      </c:barChart>
      <c:catAx>
        <c:axId val="109315339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167923616"/>
        <c:crosses val="autoZero"/>
        <c:auto val="1"/>
        <c:lblAlgn val="ctr"/>
        <c:lblOffset val="100"/>
        <c:noMultiLvlLbl val="0"/>
      </c:catAx>
      <c:valAx>
        <c:axId val="1167923616"/>
        <c:scaling>
          <c:orientation val="minMax"/>
        </c:scaling>
        <c:delete val="0"/>
        <c:axPos val="b"/>
        <c:title>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quot;₦&quot;#,##0"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0931533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b="1">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[QUARTERLYREPORT.xlsx]Quarterly Transaction by day!PivotTable9</c:name>
    <c:fmtId val="13"/>
  </c:pivotSource>
  <c:chart>
    <c:title>
      <c:tx>
        <c:rich>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r>
              <a:rPr lang="en-US" sz="1400"/>
              <a:t>Total Amount and Total Fee by Day of the Week</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1"/>
          <c:order val="1"/>
          <c:tx>
            <c:strRef>
              <c:f>'Quarterly Transaction by day'!$C$17</c:f>
              <c:strCache>
                <c:ptCount val="1"/>
                <c:pt idx="0">
                  <c:v>TOTAL_FEE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'Quarterly Transaction by day'!$A$18:$A$25</c:f>
              <c:strCache>
                <c:ptCount val="7"/>
                <c:pt idx="0">
                  <c:v>Monday</c:v>
                </c:pt>
                <c:pt idx="1">
                  <c:v>Tuesday</c:v>
                </c:pt>
                <c:pt idx="2">
                  <c:v>Wednesday</c:v>
                </c:pt>
                <c:pt idx="3">
                  <c:v>Thursday</c:v>
                </c:pt>
                <c:pt idx="4">
                  <c:v>Friday</c:v>
                </c:pt>
                <c:pt idx="5">
                  <c:v>Saturday</c:v>
                </c:pt>
                <c:pt idx="6">
                  <c:v>Sunday</c:v>
                </c:pt>
              </c:strCache>
            </c:strRef>
          </c:cat>
          <c:val>
            <c:numRef>
              <c:f>'Quarterly Transaction by day'!$C$18:$C$25</c:f>
              <c:numCache>
                <c:formatCode>"₦"#,##0</c:formatCode>
                <c:ptCount val="7"/>
                <c:pt idx="0">
                  <c:v>10.75</c:v>
                </c:pt>
                <c:pt idx="1">
                  <c:v>75.25</c:v>
                </c:pt>
                <c:pt idx="2">
                  <c:v>269.88</c:v>
                </c:pt>
                <c:pt idx="3">
                  <c:v>48.379999999999995</c:v>
                </c:pt>
                <c:pt idx="4">
                  <c:v>75.25</c:v>
                </c:pt>
                <c:pt idx="5">
                  <c:v>100</c:v>
                </c:pt>
                <c:pt idx="6">
                  <c:v>0</c:v>
                </c:pt>
              </c:numCache>
            </c:numRef>
          </c:val>
          <c:smooth val="0"/>
          <c:extLst>
            <c:ext xmlns:c16="http://schemas.microsoft.com/office/drawing/2014/chart" uri="{C3380CC4-5D6E-409C-BE32-E72D297353CC}">
              <c16:uniqueId val="{00000000-91BA-4B68-A7F6-10A705C39375}"/>
            </c:ext>
          </c:extLst>
        </c:ser>
        <c:dLbls>
          <c:showLegendKey val="0"/>
          <c:showVal val="0"/>
          <c:showCatName val="0"/>
          <c:showSerName val="0"/>
          <c:showPercent val="0"/>
          <c:showBubbleSize val="0"/>
        </c:dLbls>
        <c:marker val="1"/>
        <c:smooth val="0"/>
        <c:axId val="1787063440"/>
        <c:axId val="1787061040"/>
      </c:lineChart>
      <c:lineChart>
        <c:grouping val="standard"/>
        <c:varyColors val="0"/>
        <c:ser>
          <c:idx val="0"/>
          <c:order val="0"/>
          <c:tx>
            <c:strRef>
              <c:f>'Quarterly Transaction by day'!$B$17</c:f>
              <c:strCache>
                <c:ptCount val="1"/>
                <c:pt idx="0">
                  <c:v>TOTAL_AMOUNT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cat>
            <c:strRef>
              <c:f>'Quarterly Transaction by day'!$A$18:$A$25</c:f>
              <c:strCache>
                <c:ptCount val="7"/>
                <c:pt idx="0">
                  <c:v>Monday</c:v>
                </c:pt>
                <c:pt idx="1">
                  <c:v>Tuesday</c:v>
                </c:pt>
                <c:pt idx="2">
                  <c:v>Wednesday</c:v>
                </c:pt>
                <c:pt idx="3">
                  <c:v>Thursday</c:v>
                </c:pt>
                <c:pt idx="4">
                  <c:v>Friday</c:v>
                </c:pt>
                <c:pt idx="5">
                  <c:v>Saturday</c:v>
                </c:pt>
                <c:pt idx="6">
                  <c:v>Sunday</c:v>
                </c:pt>
              </c:strCache>
            </c:strRef>
          </c:cat>
          <c:val>
            <c:numRef>
              <c:f>'Quarterly Transaction by day'!$B$18:$B$25</c:f>
              <c:numCache>
                <c:formatCode>"₦"#,##0</c:formatCode>
                <c:ptCount val="7"/>
                <c:pt idx="0">
                  <c:v>28000</c:v>
                </c:pt>
                <c:pt idx="1">
                  <c:v>4200</c:v>
                </c:pt>
                <c:pt idx="2">
                  <c:v>48900</c:v>
                </c:pt>
                <c:pt idx="3">
                  <c:v>58050</c:v>
                </c:pt>
                <c:pt idx="4">
                  <c:v>68600</c:v>
                </c:pt>
                <c:pt idx="5">
                  <c:v>800</c:v>
                </c:pt>
                <c:pt idx="6">
                  <c:v>700</c:v>
                </c:pt>
              </c:numCache>
            </c:numRef>
          </c:val>
          <c:smooth val="0"/>
          <c:extLst>
            <c:ext xmlns:c16="http://schemas.microsoft.com/office/drawing/2014/chart" uri="{C3380CC4-5D6E-409C-BE32-E72D297353CC}">
              <c16:uniqueId val="{00000001-91BA-4B68-A7F6-10A705C39375}"/>
            </c:ext>
          </c:extLst>
        </c:ser>
        <c:dLbls>
          <c:showLegendKey val="0"/>
          <c:showVal val="0"/>
          <c:showCatName val="0"/>
          <c:showSerName val="0"/>
          <c:showPercent val="0"/>
          <c:showBubbleSize val="0"/>
        </c:dLbls>
        <c:marker val="1"/>
        <c:smooth val="0"/>
        <c:axId val="1787067760"/>
        <c:axId val="1787055760"/>
      </c:lineChart>
      <c:catAx>
        <c:axId val="17870634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787061040"/>
        <c:crosses val="autoZero"/>
        <c:auto val="1"/>
        <c:lblAlgn val="ctr"/>
        <c:lblOffset val="100"/>
        <c:noMultiLvlLbl val="0"/>
      </c:catAx>
      <c:valAx>
        <c:axId val="178706104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787063440"/>
        <c:crosses val="autoZero"/>
        <c:crossBetween val="between"/>
      </c:valAx>
      <c:valAx>
        <c:axId val="1787055760"/>
        <c:scaling>
          <c:orientation val="minMax"/>
        </c:scaling>
        <c:delete val="0"/>
        <c:axPos val="r"/>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787067760"/>
        <c:crosses val="max"/>
        <c:crossBetween val="between"/>
      </c:valAx>
      <c:catAx>
        <c:axId val="1787067760"/>
        <c:scaling>
          <c:orientation val="minMax"/>
        </c:scaling>
        <c:delete val="1"/>
        <c:axPos val="b"/>
        <c:numFmt formatCode="General" sourceLinked="1"/>
        <c:majorTickMark val="none"/>
        <c:minorTickMark val="none"/>
        <c:tickLblPos val="nextTo"/>
        <c:crossAx val="1787055760"/>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[Book1]Transaction by Month!PivotTable6</c:name>
    <c:fmtId val="25"/>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Total Transaction by Month</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circle"/>
          <c:size val="6"/>
        </c:marker>
        <c:dLbl>
          <c:idx val="0"/>
          <c:spPr>
            <a:no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1"/>
        <c:spPr>
          <a:solidFill>
            <a:schemeClr val="accent2"/>
          </a:solidFill>
          <a:ln>
            <a:noFill/>
          </a:ln>
          <a:effectLst>
            <a:outerShdw blurRad="254000" sx="102000" sy="102000" algn="ctr" rotWithShape="0">
              <a:prstClr val="black">
                <a:alpha val="20000"/>
              </a:prstClr>
            </a:outerShdw>
          </a:effectLst>
        </c:spPr>
      </c:pivotFmt>
      <c:pivotFmt>
        <c:idx val="2"/>
        <c:spPr>
          <a:solidFill>
            <a:schemeClr val="accent1"/>
          </a:solidFill>
          <a:ln>
            <a:noFill/>
          </a:ln>
          <a:effectLst>
            <a:outerShdw blurRad="254000" sx="102000" sy="102000" algn="ctr" rotWithShape="0">
              <a:prstClr val="black">
                <a:alpha val="20000"/>
              </a:prstClr>
            </a:outerShdw>
          </a:effectLst>
        </c:spP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4"/>
        <c:spPr>
          <a:solidFill>
            <a:schemeClr val="accent1"/>
          </a:solidFill>
          <a:ln>
            <a:noFill/>
          </a:ln>
          <a:effectLst>
            <a:outerShdw blurRad="254000" sx="102000" sy="102000" algn="ctr" rotWithShape="0">
              <a:prstClr val="black">
                <a:alpha val="20000"/>
              </a:prstClr>
            </a:outerShdw>
          </a:effectLst>
        </c:spPr>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pivotFmt>
      <c:pivotFmt>
        <c:idx val="7"/>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
      </c:pivotFmt>
      <c:pivotFmt>
        <c:idx val="8"/>
        <c:spPr>
          <a:solidFill>
            <a:schemeClr val="accent1"/>
          </a:solidFill>
          <a:ln>
            <a:noFill/>
          </a:ln>
          <a:effectLst>
            <a:outerShdw blurRad="254000" sx="102000" sy="102000" algn="ctr" rotWithShape="0">
              <a:prstClr val="black">
                <a:alpha val="20000"/>
              </a:prstClr>
            </a:outerShdw>
          </a:effectLst>
        </c:spPr>
      </c:pivotFmt>
      <c:pivotFmt>
        <c:idx val="9"/>
        <c:spPr>
          <a:solidFill>
            <a:schemeClr val="accent1"/>
          </a:solidFill>
          <a:ln>
            <a:noFill/>
          </a:ln>
          <a:effectLst>
            <a:outerShdw blurRad="254000" sx="102000" sy="102000" algn="ctr" rotWithShape="0">
              <a:prstClr val="black">
                <a:alpha val="20000"/>
              </a:prstClr>
            </a:outerShdw>
          </a:effectLst>
        </c:spPr>
      </c:pivotFmt>
      <c:pivotFmt>
        <c:idx val="10"/>
        <c:spPr>
          <a:solidFill>
            <a:schemeClr val="accent1"/>
          </a:solidFill>
          <a:ln>
            <a:noFill/>
          </a:ln>
          <a:effectLst>
            <a:outerShdw blurRad="254000" sx="102000" sy="102000" algn="ctr" rotWithShape="0">
              <a:prstClr val="black">
                <a:alpha val="20000"/>
              </a:prstClr>
            </a:outerShdw>
          </a:effectLst>
        </c:spPr>
      </c:pivotFmt>
    </c:pivotFmts>
    <c:plotArea>
      <c:layout/>
      <c:doughnutChart>
        <c:varyColors val="1"/>
        <c:ser>
          <c:idx val="0"/>
          <c:order val="0"/>
          <c:tx>
            <c:strRef>
              <c:f>'Transaction by Month'!$B$3</c:f>
              <c:strCache>
                <c:ptCount val="1"/>
                <c:pt idx="0">
                  <c:v>Total</c:v>
                </c:pt>
              </c:strCache>
            </c:strRef>
          </c:tx>
          <c:spPr>
            <a:effectLst>
              <a:outerShdw blurRad="50800" dist="38100" dir="10800000" algn="r" rotWithShape="0">
                <a:prstClr val="black">
                  <a:alpha val="40000"/>
                </a:prstClr>
              </a:outerShdw>
            </a:effectLst>
          </c:spPr>
          <c:dPt>
            <c:idx val="0"/>
            <c:bubble3D val="0"/>
            <c:spPr>
              <a:solidFill>
                <a:schemeClr val="accent1"/>
              </a:solidFill>
              <a:ln>
                <a:noFill/>
              </a:ln>
              <a:effectLst>
                <a:outerShdw blurRad="50800" dist="38100" dir="10800000" algn="r" rotWithShape="0">
                  <a:prstClr val="black">
                    <a:alpha val="40000"/>
                  </a:prstClr>
                </a:outerShdw>
              </a:effectLst>
            </c:spPr>
            <c:extLst>
              <c:ext xmlns:c16="http://schemas.microsoft.com/office/drawing/2014/chart" uri="{C3380CC4-5D6E-409C-BE32-E72D297353CC}">
                <c16:uniqueId val="{00000001-4D04-47C2-B405-EFF75043C994}"/>
              </c:ext>
            </c:extLst>
          </c:dPt>
          <c:dPt>
            <c:idx val="1"/>
            <c:bubble3D val="0"/>
            <c:spPr>
              <a:solidFill>
                <a:schemeClr val="accent2"/>
              </a:solidFill>
              <a:ln>
                <a:noFill/>
              </a:ln>
              <a:effectLst>
                <a:outerShdw blurRad="50800" dist="38100" dir="10800000" algn="r" rotWithShape="0">
                  <a:prstClr val="black">
                    <a:alpha val="40000"/>
                  </a:prstClr>
                </a:outerShdw>
              </a:effectLst>
            </c:spPr>
            <c:extLst>
              <c:ext xmlns:c16="http://schemas.microsoft.com/office/drawing/2014/chart" uri="{C3380CC4-5D6E-409C-BE32-E72D297353CC}">
                <c16:uniqueId val="{00000003-4D04-47C2-B405-EFF75043C994}"/>
              </c:ext>
            </c:extLst>
          </c:dPt>
          <c:dPt>
            <c:idx val="2"/>
            <c:bubble3D val="0"/>
            <c:spPr>
              <a:solidFill>
                <a:schemeClr val="accent3"/>
              </a:solidFill>
              <a:ln>
                <a:noFill/>
              </a:ln>
              <a:effectLst>
                <a:outerShdw blurRad="50800" dist="38100" dir="10800000" algn="r" rotWithShape="0">
                  <a:prstClr val="black">
                    <a:alpha val="40000"/>
                  </a:prstClr>
                </a:outerShdw>
              </a:effectLst>
            </c:spPr>
            <c:extLst>
              <c:ext xmlns:c16="http://schemas.microsoft.com/office/drawing/2014/chart" uri="{C3380CC4-5D6E-409C-BE32-E72D297353CC}">
                <c16:uniqueId val="{00000005-4D04-47C2-B405-EFF75043C994}"/>
              </c:ext>
            </c:extLst>
          </c:dPt>
          <c:dLbls>
            <c:spPr>
              <a:pattFill prst="pct75">
                <a:fgClr>
                  <a:prstClr val="black">
                    <a:lumMod val="75000"/>
                    <a:lumOff val="25000"/>
                  </a:prstClr>
                </a:fgClr>
                <a:bgClr>
                  <a:prstClr val="black">
                    <a:lumMod val="65000"/>
                    <a:lumOff val="35000"/>
                  </a:prst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'Transaction by Month'!$A$4:$A$7</c:f>
              <c:strCache>
                <c:ptCount val="3"/>
                <c:pt idx="0">
                  <c:v>Jan</c:v>
                </c:pt>
                <c:pt idx="1">
                  <c:v>Feb</c:v>
                </c:pt>
                <c:pt idx="2">
                  <c:v>Mar</c:v>
                </c:pt>
              </c:strCache>
            </c:strRef>
          </c:cat>
          <c:val>
            <c:numRef>
              <c:f>'Transaction by Month'!$B$4:$B$7</c:f>
              <c:numCache>
                <c:formatCode>"₦"#,##0</c:formatCode>
                <c:ptCount val="3"/>
                <c:pt idx="0">
                  <c:v>58600</c:v>
                </c:pt>
                <c:pt idx="1">
                  <c:v>141550</c:v>
                </c:pt>
                <c:pt idx="2">
                  <c:v>9100</c:v>
                </c:pt>
              </c:numCache>
            </c:numRef>
          </c:val>
          <c:extLst>
            <c:ext xmlns:c16="http://schemas.microsoft.com/office/drawing/2014/chart" uri="{C3380CC4-5D6E-409C-BE32-E72D297353CC}">
              <c16:uniqueId val="{00000006-4D04-47C2-B405-EFF75043C994}"/>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[QUARTERLYREPORT.xlsx]FEE BY MONTH!PivotTable12</c:name>
    <c:fmtId val="27"/>
  </c:pivotSource>
  <c:chart>
    <c:title>
      <c:tx>
        <c:rich>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r>
              <a:rPr lang="en-US" sz="1800" b="1" i="0" u="none" strike="noStrike" baseline="0"/>
              <a:t>Volume of Transactions per Month</a:t>
            </a:r>
            <a:endParaRPr lang="en-US" sz="1800"/>
          </a:p>
        </c:rich>
      </c:tx>
      <c:overlay val="0"/>
      <c:spPr>
        <a:noFill/>
        <a:ln>
          <a:noFill/>
        </a:ln>
        <a:effectLst/>
      </c:spPr>
      <c:txPr>
        <a:bodyPr rot="0" spcFirstLastPara="1" vertOverflow="ellipsis" vert="horz" wrap="square" anchor="ctr" anchorCtr="1"/>
        <a:lstStyle/>
        <a:p>
          <a:pPr>
            <a:defRPr sz="18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0B0F0"/>
          </a:solidFill>
          <a:ln w="19050">
            <a:solidFill>
              <a:schemeClr val="lt1"/>
            </a:solidFill>
          </a:ln>
          <a:effectLst>
            <a:outerShdw blurRad="50800" dist="38100" dir="5400000" algn="t" rotWithShape="0">
              <a:prstClr val="black">
                <a:alpha val="40000"/>
              </a:prstClr>
            </a:outerShdw>
          </a:effectLst>
        </c:spPr>
      </c:pivotFmt>
      <c:pivotFmt>
        <c:idx val="2"/>
        <c:spPr>
          <a:solidFill>
            <a:srgbClr val="92D050"/>
          </a:solidFill>
          <a:ln w="19050">
            <a:solidFill>
              <a:schemeClr val="lt1"/>
            </a:solidFill>
          </a:ln>
          <a:effectLst>
            <a:outerShdw blurRad="50800" dist="38100" dir="5400000" algn="t" rotWithShape="0">
              <a:prstClr val="black">
                <a:alpha val="40000"/>
              </a:prstClr>
            </a:outerShdw>
          </a:effectLst>
        </c:spPr>
      </c:pivotFmt>
      <c:pivotFmt>
        <c:idx val="3"/>
        <c:spPr>
          <a:solidFill>
            <a:srgbClr val="FF0000"/>
          </a:solidFill>
          <a:ln w="19050">
            <a:solidFill>
              <a:schemeClr val="lt1"/>
            </a:solidFill>
          </a:ln>
          <a:effectLst>
            <a:outerShdw blurRad="50800" dist="38100" dir="5400000" algn="t" rotWithShape="0">
              <a:prstClr val="black">
                <a:alpha val="40000"/>
              </a:prstClr>
            </a:outerShdw>
          </a:effectLst>
        </c:spPr>
      </c:pivotFmt>
      <c:pivotFmt>
        <c:idx val="4"/>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0000"/>
          </a:solidFill>
          <a:ln w="19050">
            <a:solidFill>
              <a:schemeClr val="lt1"/>
            </a:solidFill>
          </a:ln>
          <a:effectLst>
            <a:outerShdw blurRad="50800" dist="38100" dir="5400000" algn="t" rotWithShape="0">
              <a:prstClr val="black">
                <a:alpha val="40000"/>
              </a:prstClr>
            </a:outerShdw>
          </a:effectLst>
        </c:spPr>
      </c:pivotFmt>
      <c:pivotFmt>
        <c:idx val="6"/>
        <c:spPr>
          <a:solidFill>
            <a:srgbClr val="92D050"/>
          </a:solidFill>
          <a:ln w="19050">
            <a:solidFill>
              <a:schemeClr val="lt1"/>
            </a:solidFill>
          </a:ln>
          <a:effectLst>
            <a:outerShdw blurRad="50800" dist="38100" dir="5400000" algn="t" rotWithShape="0">
              <a:prstClr val="black">
                <a:alpha val="40000"/>
              </a:prstClr>
            </a:outerShdw>
          </a:effectLst>
        </c:spPr>
      </c:pivotFmt>
      <c:pivotFmt>
        <c:idx val="7"/>
        <c:spPr>
          <a:solidFill>
            <a:srgbClr val="00B0F0"/>
          </a:solidFill>
          <a:ln w="19050">
            <a:solidFill>
              <a:schemeClr val="lt1"/>
            </a:solidFill>
          </a:ln>
          <a:effectLst>
            <a:outerShdw blurRad="50800" dist="38100" dir="5400000" algn="t" rotWithShape="0">
              <a:prstClr val="black">
                <a:alpha val="40000"/>
              </a:prstClr>
            </a:outerShdw>
          </a:effectLst>
        </c:spPr>
      </c:pivotFmt>
      <c:pivotFmt>
        <c:idx val="8"/>
        <c:spPr>
          <a:solidFill>
            <a:schemeClr val="accent1"/>
          </a:solidFill>
          <a:ln w="19050">
            <a:solidFill>
              <a:schemeClr val="lt1"/>
            </a:solidFill>
          </a:ln>
          <a:effectLst>
            <a:outerShdw blurRad="50800" dist="38100" dir="5400000" algn="t" rotWithShape="0">
              <a:prstClr val="black">
                <a:alpha val="40000"/>
              </a:prstClr>
            </a:outerShdw>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rgbClr val="FF0000"/>
          </a:solidFill>
          <a:ln w="19050">
            <a:solidFill>
              <a:schemeClr val="lt1"/>
            </a:solidFill>
          </a:ln>
          <a:effectLst>
            <a:outerShdw blurRad="50800" dist="38100" dir="5400000" algn="t" rotWithShape="0">
              <a:prstClr val="black">
                <a:alpha val="40000"/>
              </a:prstClr>
            </a:outerShdw>
          </a:effectLst>
        </c:spPr>
      </c:pivotFmt>
      <c:pivotFmt>
        <c:idx val="10"/>
        <c:spPr>
          <a:solidFill>
            <a:srgbClr val="92D050"/>
          </a:solidFill>
          <a:ln w="19050">
            <a:solidFill>
              <a:schemeClr val="lt1"/>
            </a:solidFill>
          </a:ln>
          <a:effectLst>
            <a:outerShdw blurRad="50800" dist="38100" dir="5400000" algn="t" rotWithShape="0">
              <a:prstClr val="black">
                <a:alpha val="40000"/>
              </a:prstClr>
            </a:outerShdw>
          </a:effectLst>
        </c:spPr>
      </c:pivotFmt>
      <c:pivotFmt>
        <c:idx val="11"/>
        <c:spPr>
          <a:solidFill>
            <a:srgbClr val="00B0F0"/>
          </a:solidFill>
          <a:ln w="19050">
            <a:solidFill>
              <a:schemeClr val="lt1"/>
            </a:solidFill>
          </a:ln>
          <a:effectLst>
            <a:outerShdw blurRad="50800" dist="38100" dir="5400000" algn="t" rotWithShape="0">
              <a:prstClr val="black">
                <a:alpha val="40000"/>
              </a:prstClr>
            </a:outerShdw>
          </a:effectLst>
        </c:spPr>
      </c:pivotFmt>
    </c:pivotFmts>
    <c:plotArea>
      <c:layout/>
      <c:pieChart>
        <c:varyColors val="1"/>
        <c:ser>
          <c:idx val="0"/>
          <c:order val="0"/>
          <c:tx>
            <c:strRef>
              <c:f>'FEE BY MONTH'!$C$29</c:f>
              <c:strCache>
                <c:ptCount val="1"/>
                <c:pt idx="0">
                  <c:v>Total</c:v>
                </c:pt>
              </c:strCache>
            </c:strRef>
          </c:tx>
          <c:spPr>
            <a:effectLst>
              <a:outerShdw blurRad="50800" dist="38100" dir="5400000" algn="t" rotWithShape="0">
                <a:prstClr val="black">
                  <a:alpha val="40000"/>
                </a:prstClr>
              </a:outerShdw>
            </a:effectLst>
          </c:spPr>
          <c:dPt>
            <c:idx val="0"/>
            <c:bubble3D val="0"/>
            <c:spPr>
              <a:solidFill>
                <a:srgbClr val="FF000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1-C2BC-4093-8EDC-4277C5FCB042}"/>
              </c:ext>
            </c:extLst>
          </c:dPt>
          <c:dPt>
            <c:idx val="1"/>
            <c:bubble3D val="0"/>
            <c:spPr>
              <a:solidFill>
                <a:srgbClr val="92D05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3-C2BC-4093-8EDC-4277C5FCB042}"/>
              </c:ext>
            </c:extLst>
          </c:dPt>
          <c:dPt>
            <c:idx val="2"/>
            <c:bubble3D val="0"/>
            <c:spPr>
              <a:solidFill>
                <a:srgbClr val="00B0F0"/>
              </a:solidFill>
              <a:ln w="19050">
                <a:solidFill>
                  <a:schemeClr val="lt1"/>
                </a:solidFill>
              </a:ln>
              <a:effectLst>
                <a:outerShdw blurRad="50800" dist="38100" dir="5400000" algn="t" rotWithShape="0">
                  <a:prstClr val="black">
                    <a:alpha val="40000"/>
                  </a:prstClr>
                </a:outerShdw>
              </a:effectLst>
            </c:spPr>
            <c:extLst>
              <c:ext xmlns:c16="http://schemas.microsoft.com/office/drawing/2014/chart" uri="{C3380CC4-5D6E-409C-BE32-E72D297353CC}">
                <c16:uniqueId val="{00000005-C2BC-4093-8EDC-4277C5FCB042}"/>
              </c:ext>
            </c:extLst>
          </c:dPt>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'FEE BY MONTH'!$B$30:$B$33</c:f>
              <c:strCache>
                <c:ptCount val="3"/>
                <c:pt idx="0">
                  <c:v>Jan</c:v>
                </c:pt>
                <c:pt idx="1">
                  <c:v>Feb</c:v>
                </c:pt>
                <c:pt idx="2">
                  <c:v>Mar</c:v>
                </c:pt>
              </c:strCache>
            </c:strRef>
          </c:cat>
          <c:val>
            <c:numRef>
              <c:f>'FEE BY MONTH'!$C$30:$C$33</c:f>
              <c:numCache>
                <c:formatCode>0</c:formatCode>
                <c:ptCount val="3"/>
                <c:pt idx="0">
                  <c:v>30</c:v>
                </c:pt>
                <c:pt idx="1">
                  <c:v>42</c:v>
                </c:pt>
                <c:pt idx="2">
                  <c:v>41</c:v>
                </c:pt>
              </c:numCache>
            </c:numRef>
          </c:val>
          <c:extLst>
            <c:ext xmlns:c16="http://schemas.microsoft.com/office/drawing/2014/chart" uri="{C3380CC4-5D6E-409C-BE32-E72D297353CC}">
              <c16:uniqueId val="{00000006-C2BC-4093-8EDC-4277C5FCB042}"/>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[QUARTERLYREPORT.xlsx]TRANSACTION CHANNEL!PivotTable1</c:name>
    <c:fmtId val="16"/>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baseline="0">
                <a:solidFill>
                  <a:sysClr val="windowText" lastClr="000000"/>
                </a:solidFill>
                <a:latin typeface="+mn-lt"/>
                <a:ea typeface="+mn-ea"/>
                <a:cs typeface="+mn-cs"/>
              </a:defRPr>
            </a:pPr>
            <a:r>
              <a:rPr lang="en-US" sz="1600" b="1" i="0" u="none" strike="noStrike" baseline="0"/>
              <a:t>Total Fee Generated from All Channels</a:t>
            </a:r>
            <a:endParaRPr lang="en-US"/>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baseline="0">
              <a:solidFill>
                <a:sysClr val="windowText" lastClr="000000"/>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'TRANSACTION CHANNEL'!$B$20</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solidFill>
                <a:srgbClr val="92D050"/>
              </a:solidFill>
              <a:ln w="9525">
                <a:solidFill>
                  <a:schemeClr val="accent1"/>
                </a:solidFill>
                <a:round/>
              </a:ln>
              <a:effectLst>
                <a:outerShdw blurRad="57150" dist="19050" dir="5400000" algn="ctr" rotWithShape="0">
                  <a:srgbClr val="000000">
                    <a:alpha val="63000"/>
                  </a:srgbClr>
                </a:outerShdw>
              </a:effectLst>
            </c:spPr>
          </c:marker>
          <c:cat>
            <c:strRef>
              <c:f>'TRANSACTION CHANNEL'!$A$21:$A$26</c:f>
              <c:strCache>
                <c:ptCount val="5"/>
                <c:pt idx="0">
                  <c:v>BillsPayment-</c:v>
                </c:pt>
                <c:pt idx="1">
                  <c:v>BillsPayment- EKEDC PREPAID4390157
3840/top up</c:v>
                </c:pt>
                <c:pt idx="2">
                  <c:v>BillsPayment- IKEDC
Prepaid430128414 62/</c:v>
                </c:pt>
                <c:pt idx="3">
                  <c:v>EazyPay Outward</c:v>
                </c:pt>
                <c:pt idx="4">
                  <c:v>EazyPay Outward Funds FT</c:v>
                </c:pt>
              </c:strCache>
            </c:strRef>
          </c:cat>
          <c:val>
            <c:numRef>
              <c:f>'TRANSACTION CHANNEL'!$B$21:$B$26</c:f>
              <c:numCache>
                <c:formatCode>General</c:formatCode>
                <c:ptCount val="5"/>
                <c:pt idx="0">
                  <c:v>100</c:v>
                </c:pt>
                <c:pt idx="1">
                  <c:v>100</c:v>
                </c:pt>
                <c:pt idx="2">
                  <c:v>100</c:v>
                </c:pt>
                <c:pt idx="3">
                  <c:v>10.75</c:v>
                </c:pt>
                <c:pt idx="4">
                  <c:v>268.76</c:v>
                </c:pt>
              </c:numCache>
            </c:numRef>
          </c:val>
          <c:smooth val="0"/>
          <c:extLst>
            <c:ext xmlns:c16="http://schemas.microsoft.com/office/drawing/2014/chart" uri="{C3380CC4-5D6E-409C-BE32-E72D297353CC}">
              <c16:uniqueId val="{00000000-4023-46DB-9A74-64C81B74033D}"/>
            </c:ext>
          </c:extLst>
        </c:ser>
        <c:dLbls>
          <c:showLegendKey val="0"/>
          <c:showVal val="0"/>
          <c:showCatName val="0"/>
          <c:showSerName val="0"/>
          <c:showPercent val="0"/>
          <c:showBubbleSize val="0"/>
        </c:dLbls>
        <c:marker val="1"/>
        <c:smooth val="0"/>
        <c:axId val="1883864400"/>
        <c:axId val="1883856720"/>
      </c:lineChart>
      <c:catAx>
        <c:axId val="188386440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883856720"/>
        <c:crosses val="autoZero"/>
        <c:auto val="1"/>
        <c:lblAlgn val="ctr"/>
        <c:lblOffset val="100"/>
        <c:noMultiLvlLbl val="0"/>
      </c:catAx>
      <c:valAx>
        <c:axId val="18838567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88386440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1" i="0" u="none" strike="noStrike" kern="1200" baseline="0">
                <a:solidFill>
                  <a:schemeClr val="tx1"/>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[QUARTERLYREPORT.xlsx]TRANSACTION CHANNEL!PivotTable7</c:name>
    <c:fmtId val="13"/>
  </c:pivotSource>
  <c:chart>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en-US"/>
              <a:t>Top 5 Quaterly Transaction</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'TRANSACTION CHANNEL'!$B$3</c:f>
              <c:strCache>
                <c:ptCount val="1"/>
                <c:pt idx="0">
                  <c:v>TOTAL AMOUNT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'TRANSACTION CHANNEL'!$A$4:$A$9</c:f>
              <c:strCache>
                <c:ptCount val="5"/>
                <c:pt idx="0">
                  <c:v>NIP Credit Request Transaction</c:v>
                </c:pt>
                <c:pt idx="1">
                  <c:v>EazyPay Outward Funds FT</c:v>
                </c:pt>
                <c:pt idx="2">
                  <c:v>BillsPayment-</c:v>
                </c:pt>
                <c:pt idx="3">
                  <c:v>NIP Credit</c:v>
                </c:pt>
                <c:pt idx="4">
                  <c:v>BillsPayment- EKEDC PREPAID4390157
3840/top up</c:v>
                </c:pt>
              </c:strCache>
            </c:strRef>
          </c:cat>
          <c:val>
            <c:numRef>
              <c:f>'TRANSACTION CHANNEL'!$B$4:$B$9</c:f>
              <c:numCache>
                <c:formatCode>General</c:formatCode>
                <c:ptCount val="5"/>
                <c:pt idx="0">
                  <c:v>142000</c:v>
                </c:pt>
                <c:pt idx="1">
                  <c:v>34100</c:v>
                </c:pt>
                <c:pt idx="2">
                  <c:v>10400</c:v>
                </c:pt>
                <c:pt idx="3">
                  <c:v>7000</c:v>
                </c:pt>
                <c:pt idx="4">
                  <c:v>5000</c:v>
                </c:pt>
              </c:numCache>
            </c:numRef>
          </c:val>
          <c:smooth val="0"/>
          <c:extLst>
            <c:ext xmlns:c16="http://schemas.microsoft.com/office/drawing/2014/chart" uri="{C3380CC4-5D6E-409C-BE32-E72D297353CC}">
              <c16:uniqueId val="{00000000-24D3-47CE-83E1-3D0F28928549}"/>
            </c:ext>
          </c:extLst>
        </c:ser>
        <c:dLbls>
          <c:dLblPos val="t"/>
          <c:showLegendKey val="0"/>
          <c:showVal val="1"/>
          <c:showCatName val="0"/>
          <c:showSerName val="0"/>
          <c:showPercent val="0"/>
          <c:showBubbleSize val="0"/>
        </c:dLbls>
        <c:marker val="1"/>
        <c:smooth val="0"/>
        <c:axId val="1787022640"/>
        <c:axId val="1787045200"/>
      </c:lineChart>
      <c:lineChart>
        <c:grouping val="standard"/>
        <c:varyColors val="0"/>
        <c:ser>
          <c:idx val="1"/>
          <c:order val="1"/>
          <c:tx>
            <c:strRef>
              <c:f>'TRANSACTION CHANNEL'!$C$3</c:f>
              <c:strCache>
                <c:ptCount val="1"/>
                <c:pt idx="0">
                  <c:v>Sum of Fee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'TRANSACTION CHANNEL'!$A$4:$A$9</c:f>
              <c:strCache>
                <c:ptCount val="5"/>
                <c:pt idx="0">
                  <c:v>NIP Credit Request Transaction</c:v>
                </c:pt>
                <c:pt idx="1">
                  <c:v>EazyPay Outward Funds FT</c:v>
                </c:pt>
                <c:pt idx="2">
                  <c:v>BillsPayment-</c:v>
                </c:pt>
                <c:pt idx="3">
                  <c:v>NIP Credit</c:v>
                </c:pt>
                <c:pt idx="4">
                  <c:v>BillsPayment- EKEDC PREPAID4390157
3840/top up</c:v>
                </c:pt>
              </c:strCache>
            </c:strRef>
          </c:cat>
          <c:val>
            <c:numRef>
              <c:f>'TRANSACTION CHANNEL'!$C$4:$C$9</c:f>
              <c:numCache>
                <c:formatCode>General</c:formatCode>
                <c:ptCount val="5"/>
                <c:pt idx="0">
                  <c:v>0</c:v>
                </c:pt>
                <c:pt idx="1">
                  <c:v>268.76</c:v>
                </c:pt>
                <c:pt idx="2">
                  <c:v>100</c:v>
                </c:pt>
                <c:pt idx="3">
                  <c:v>0</c:v>
                </c:pt>
                <c:pt idx="4">
                  <c:v>100</c:v>
                </c:pt>
              </c:numCache>
            </c:numRef>
          </c:val>
          <c:smooth val="0"/>
          <c:extLst>
            <c:ext xmlns:c16="http://schemas.microsoft.com/office/drawing/2014/chart" uri="{C3380CC4-5D6E-409C-BE32-E72D297353CC}">
              <c16:uniqueId val="{00000001-24D3-47CE-83E1-3D0F28928549}"/>
            </c:ext>
          </c:extLst>
        </c:ser>
        <c:dLbls>
          <c:showLegendKey val="0"/>
          <c:showVal val="0"/>
          <c:showCatName val="0"/>
          <c:showSerName val="0"/>
          <c:showPercent val="0"/>
          <c:showBubbleSize val="0"/>
        </c:dLbls>
        <c:marker val="1"/>
        <c:smooth val="0"/>
        <c:axId val="1408112272"/>
        <c:axId val="1408110352"/>
      </c:lineChart>
      <c:catAx>
        <c:axId val="178702264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787045200"/>
        <c:crosses val="autoZero"/>
        <c:auto val="1"/>
        <c:lblAlgn val="ctr"/>
        <c:lblOffset val="100"/>
        <c:noMultiLvlLbl val="0"/>
      </c:catAx>
      <c:valAx>
        <c:axId val="17870452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787022640"/>
        <c:crosses val="autoZero"/>
        <c:crossBetween val="between"/>
      </c:valAx>
      <c:valAx>
        <c:axId val="140811035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408112272"/>
        <c:crosses val="max"/>
        <c:crossBetween val="between"/>
      </c:valAx>
      <c:catAx>
        <c:axId val="1408112272"/>
        <c:scaling>
          <c:orientation val="minMax"/>
        </c:scaling>
        <c:delete val="1"/>
        <c:axPos val="b"/>
        <c:numFmt formatCode="General" sourceLinked="1"/>
        <c:majorTickMark val="out"/>
        <c:minorTickMark val="none"/>
        <c:tickLblPos val="nextTo"/>
        <c:crossAx val="1408110352"/>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[QUARTERLYREPORT.xlsx]Sheet1!PivotTable1</c:name>
    <c:fmtId val="31"/>
  </c:pivotSource>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a:t>Total </a:t>
            </a:r>
            <a:r>
              <a:rPr lang="en-US" baseline="0"/>
              <a:t> Transaction by  Branch</a:t>
            </a:r>
            <a:endParaRPr lang="en-US"/>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pivotFmt>
      <c:pivotFmt>
        <c:idx val="3"/>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0000"/>
          </a:solidFill>
          <a:ln>
            <a:noFill/>
          </a:ln>
          <a:effectLst/>
        </c:spPr>
      </c:pivotFmt>
      <c:pivotFmt>
        <c:idx val="5"/>
        <c:spPr>
          <a:solidFill>
            <a:srgbClr val="92D05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0000"/>
          </a:solidFill>
          <a:ln>
            <a:noFill/>
          </a:ln>
          <a:effectLst/>
        </c:spPr>
      </c:pivotFmt>
    </c:pivotFmts>
    <c:plotArea>
      <c:layout/>
      <c:barChart>
        <c:barDir val="col"/>
        <c:grouping val="clustered"/>
        <c:varyColors val="0"/>
        <c:ser>
          <c:idx val="0"/>
          <c:order val="0"/>
          <c:tx>
            <c:strRef>
              <c:f>Sheet1!$B$1</c:f>
              <c:strCache>
                <c:ptCount val="1"/>
                <c:pt idx="0">
                  <c:v>Total</c:v>
                </c:pt>
              </c:strCache>
            </c:strRef>
          </c:tx>
          <c:spPr>
            <a:solidFill>
              <a:srgbClr val="92D050"/>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849C-46F3-8E81-B678360A105D}"/>
              </c:ext>
            </c:extLst>
          </c:dPt>
          <c:cat>
            <c:strRef>
              <c:f>Sheet1!$A$2:$A$4</c:f>
              <c:strCache>
                <c:ptCount val="2"/>
                <c:pt idx="0">
                  <c:v>Head Office</c:v>
                </c:pt>
                <c:pt idx="1">
                  <c:v>Head Office Branch</c:v>
                </c:pt>
              </c:strCache>
            </c:strRef>
          </c:cat>
          <c:val>
            <c:numRef>
              <c:f>Sheet1!$B$2:$B$4</c:f>
              <c:numCache>
                <c:formatCode>"₦"#,##0</c:formatCode>
                <c:ptCount val="2"/>
                <c:pt idx="0">
                  <c:v>21850</c:v>
                </c:pt>
                <c:pt idx="1">
                  <c:v>187400</c:v>
                </c:pt>
              </c:numCache>
            </c:numRef>
          </c:val>
          <c:extLst>
            <c:ext xmlns:c16="http://schemas.microsoft.com/office/drawing/2014/chart" uri="{C3380CC4-5D6E-409C-BE32-E72D297353CC}">
              <c16:uniqueId val="{00000002-849C-46F3-8E81-B678360A105D}"/>
            </c:ext>
          </c:extLst>
        </c:ser>
        <c:dLbls>
          <c:showLegendKey val="0"/>
          <c:showVal val="0"/>
          <c:showCatName val="0"/>
          <c:showSerName val="0"/>
          <c:showPercent val="0"/>
          <c:showBubbleSize val="0"/>
        </c:dLbls>
        <c:gapWidth val="219"/>
        <c:overlap val="-27"/>
        <c:axId val="1870396415"/>
        <c:axId val="1870375775"/>
      </c:barChart>
      <c:catAx>
        <c:axId val="18703964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870375775"/>
        <c:crosses val="autoZero"/>
        <c:auto val="1"/>
        <c:lblAlgn val="ctr"/>
        <c:lblOffset val="100"/>
        <c:noMultiLvlLbl val="0"/>
      </c:catAx>
      <c:valAx>
        <c:axId val="1870375775"/>
        <c:scaling>
          <c:orientation val="minMax"/>
        </c:scaling>
        <c:delete val="0"/>
        <c:axPos val="l"/>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87039641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[QUARTERLYREPORT.xlsx]Sheet1!PivotTable2</c:name>
    <c:fmtId val="32"/>
  </c:pivotSource>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a:t>Total fee</a:t>
            </a:r>
            <a:r>
              <a:rPr lang="en-US" baseline="0"/>
              <a:t> by Branch</a:t>
            </a:r>
            <a:endParaRPr lang="en-US"/>
          </a:p>
        </c:rich>
      </c:tx>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a:noFill/>
          </a:ln>
          <a:effectLst/>
        </c:spPr>
      </c:pivotFmt>
      <c:pivotFmt>
        <c:idx val="4"/>
        <c:spPr>
          <a:solidFill>
            <a:srgbClr val="92D050"/>
          </a:solidFill>
          <a:ln>
            <a:noFill/>
          </a:ln>
          <a:effectLst/>
        </c:spPr>
        <c:marker>
          <c:symbol val="none"/>
        </c:marker>
        <c:dLbl>
          <c:idx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0000"/>
          </a:solidFill>
          <a:ln>
            <a:noFill/>
          </a:ln>
          <a:effectLst/>
        </c:spPr>
      </c:pivotFmt>
    </c:pivotFmts>
    <c:plotArea>
      <c:layout/>
      <c:barChart>
        <c:barDir val="bar"/>
        <c:grouping val="clustered"/>
        <c:varyColors val="0"/>
        <c:ser>
          <c:idx val="0"/>
          <c:order val="0"/>
          <c:tx>
            <c:strRef>
              <c:f>Sheet1!$B$13</c:f>
              <c:strCache>
                <c:ptCount val="1"/>
                <c:pt idx="0">
                  <c:v>Total</c:v>
                </c:pt>
              </c:strCache>
            </c:strRef>
          </c:tx>
          <c:spPr>
            <a:solidFill>
              <a:srgbClr val="92D050"/>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3572-4B24-BC8B-1A3D823DE446}"/>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Sheet1!$A$14:$A$16</c:f>
              <c:strCache>
                <c:ptCount val="2"/>
                <c:pt idx="0">
                  <c:v>Head Office</c:v>
                </c:pt>
                <c:pt idx="1">
                  <c:v>Head Office Branch</c:v>
                </c:pt>
              </c:strCache>
            </c:strRef>
          </c:cat>
          <c:val>
            <c:numRef>
              <c:f>Sheet1!$B$14:$B$16</c:f>
              <c:numCache>
                <c:formatCode>"₦"#,##0</c:formatCode>
                <c:ptCount val="2"/>
                <c:pt idx="0">
                  <c:v>110.75</c:v>
                </c:pt>
                <c:pt idx="1">
                  <c:v>468.76</c:v>
                </c:pt>
              </c:numCache>
            </c:numRef>
          </c:val>
          <c:extLst>
            <c:ext xmlns:c16="http://schemas.microsoft.com/office/drawing/2014/chart" uri="{C3380CC4-5D6E-409C-BE32-E72D297353CC}">
              <c16:uniqueId val="{00000002-3572-4B24-BC8B-1A3D823DE446}"/>
            </c:ext>
          </c:extLst>
        </c:ser>
        <c:dLbls>
          <c:dLblPos val="outEnd"/>
          <c:showLegendKey val="0"/>
          <c:showVal val="1"/>
          <c:showCatName val="0"/>
          <c:showSerName val="0"/>
          <c:showPercent val="0"/>
          <c:showBubbleSize val="0"/>
        </c:dLbls>
        <c:gapWidth val="182"/>
        <c:axId val="1870400735"/>
        <c:axId val="1870406495"/>
      </c:barChart>
      <c:catAx>
        <c:axId val="187040073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870406495"/>
        <c:crosses val="autoZero"/>
        <c:auto val="1"/>
        <c:lblAlgn val="ctr"/>
        <c:lblOffset val="100"/>
        <c:noMultiLvlLbl val="0"/>
      </c:catAx>
      <c:valAx>
        <c:axId val="1870406495"/>
        <c:scaling>
          <c:orientation val="minMax"/>
        </c:scaling>
        <c:delete val="0"/>
        <c:axPos val="b"/>
        <c:numFmt formatCode="&quot;₦&quot;#,##0"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18704007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3DDE-8618-A032-E71D-2E165D7B2B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993C32-61A8-0F67-3923-841AF2742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C3EAA8-702A-3323-74C2-B026F786E031}"/>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D5ADA545-7966-EF80-D36E-D38AB32F96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210DA-BE8E-2AE6-32CC-9014AAF2759B}"/>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27320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F8F35-F9AE-1E08-F521-53ECCB8EE2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36ABCA-B459-90DC-314B-F9D06B7182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52F715-D27C-F178-7A65-9A5C2B01FA55}"/>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C5BA8C6E-51FD-F96C-EB7B-84317A994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80C1DD-7FE9-FF88-2462-3FA219F25BF6}"/>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46366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2552-82A6-D099-0698-8FF17DBD96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5CF9E3-56C0-CA5C-683C-66C7EAB2EE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F61A07-C072-A3D5-4EA9-CDBF67C9466E}"/>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C95E87B9-3BC0-B3A6-3F02-CF25BB2657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B8200-E19E-FF3C-6C0E-EA08868CB005}"/>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795654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DEB6-56F9-F539-2118-6892CC6CD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CA28A5-C18D-CDF9-9224-C2683FFC3A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576135-C6D4-1404-7AD5-B11449B1DB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F4A6BB-2D85-3CCE-6BE7-AEBAEDF88207}"/>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6" name="Footer Placeholder 5">
            <a:extLst>
              <a:ext uri="{FF2B5EF4-FFF2-40B4-BE49-F238E27FC236}">
                <a16:creationId xmlns:a16="http://schemas.microsoft.com/office/drawing/2014/main" id="{DDE7A471-AEA3-3B5C-E5F5-B00EB63A2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4DDBC-F797-CF11-4A3C-A99EE913374B}"/>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763262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3D7CF-44DC-F540-4E4E-99422574F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82C4D0-0CEC-B4EB-E566-B0E68ABBD9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703143-0A56-F31E-8E34-CBC0F09183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5A025B-9417-20FA-0298-86CCB05588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04DCA3-410C-CB49-34B9-FF432F5F01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B0D423-792C-BB22-461B-5A16D0157855}"/>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8" name="Footer Placeholder 7">
            <a:extLst>
              <a:ext uri="{FF2B5EF4-FFF2-40B4-BE49-F238E27FC236}">
                <a16:creationId xmlns:a16="http://schemas.microsoft.com/office/drawing/2014/main" id="{B9631305-D523-C25B-0233-EBE97A0382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3D61A9-7615-E625-809E-25A3043E97E1}"/>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478431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2632-A9A9-2AB9-8B7B-4DDA335FF2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F2513F-FBC8-2355-4708-00CC934781C1}"/>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4" name="Footer Placeholder 3">
            <a:extLst>
              <a:ext uri="{FF2B5EF4-FFF2-40B4-BE49-F238E27FC236}">
                <a16:creationId xmlns:a16="http://schemas.microsoft.com/office/drawing/2014/main" id="{4BAADC03-0F43-A0B1-44A6-87C47468F0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80F4F-4769-4B98-D505-0A84EDFF9A28}"/>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3000905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07424-7043-012E-ADCC-27CB1C4CCF9E}"/>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3" name="Footer Placeholder 2">
            <a:extLst>
              <a:ext uri="{FF2B5EF4-FFF2-40B4-BE49-F238E27FC236}">
                <a16:creationId xmlns:a16="http://schemas.microsoft.com/office/drawing/2014/main" id="{0B855804-2E0B-CD60-2910-CEE722F63C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B68A5C-7F30-DFC6-255D-F1AE2F995FAD}"/>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3016301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A6AA-2D52-5E50-571B-9D0B826045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141DD4-D270-409D-5BE9-35D30649A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1DE356-BBB2-CA7D-7573-66895ACA7C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9EAB78-8953-746A-8891-1230879B4DD8}"/>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6" name="Footer Placeholder 5">
            <a:extLst>
              <a:ext uri="{FF2B5EF4-FFF2-40B4-BE49-F238E27FC236}">
                <a16:creationId xmlns:a16="http://schemas.microsoft.com/office/drawing/2014/main" id="{F9FB0E96-1A5A-9631-F1FB-C4FEE83A9D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D2B775-6527-85C0-3798-BD2458708354}"/>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894785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0AC8-3D4F-1676-488C-25ECB3178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79D9F6-C3E5-9248-77D6-563C5FF64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32E408-0C6B-D4E6-2F69-5C4E395C7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5FA7A-735B-5E93-197B-60A403A29959}"/>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6" name="Footer Placeholder 5">
            <a:extLst>
              <a:ext uri="{FF2B5EF4-FFF2-40B4-BE49-F238E27FC236}">
                <a16:creationId xmlns:a16="http://schemas.microsoft.com/office/drawing/2014/main" id="{F8CB7CF5-3E73-E06D-6219-5251CE8AD3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74DD-82DB-EC31-7AE3-94F1A73D6370}"/>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5699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5CB29-E4A0-36DC-E438-2B9C76589F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BA3CB8-E894-18D4-C08A-2656627893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AB0F9-89A5-4466-F2A6-BFF579050B80}"/>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E12BB096-AA63-A073-4D68-E97F9A25AD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B5350-97BE-BBD9-55B0-7B6632E77813}"/>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1633720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79A6DC-288C-2EFA-AFF3-15D22BF00F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2FE840-52EB-1F81-CE71-954C8456E0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7FE5C-CFB5-C18E-8706-01E01B8E2FE8}"/>
              </a:ext>
            </a:extLst>
          </p:cNvPr>
          <p:cNvSpPr>
            <a:spLocks noGrp="1"/>
          </p:cNvSpPr>
          <p:nvPr>
            <p:ph type="dt" sz="half" idx="10"/>
          </p:nvPr>
        </p:nvSpPr>
        <p:spPr/>
        <p:txBody>
          <a:body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2C85C379-A33C-D5F3-4A5E-16CA94B76F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48258-E2A8-86C0-9471-762CEB4FF3BE}"/>
              </a:ext>
            </a:extLst>
          </p:cNvPr>
          <p:cNvSpPr>
            <a:spLocks noGrp="1"/>
          </p:cNvSpPr>
          <p:nvPr>
            <p:ph type="sldNum" sz="quarter" idx="12"/>
          </p:nvPr>
        </p:nvSpPr>
        <p:spPr/>
        <p:txBody>
          <a:bodyPr/>
          <a:lstStyle/>
          <a:p>
            <a:fld id="{D9D7870E-DABC-43C5-B070-29DD496D6162}" type="slidenum">
              <a:rPr lang="en-US" smtClean="0"/>
              <a:t>‹#›</a:t>
            </a:fld>
            <a:endParaRPr lang="en-US"/>
          </a:p>
        </p:txBody>
      </p:sp>
    </p:spTree>
    <p:extLst>
      <p:ext uri="{BB962C8B-B14F-4D97-AF65-F5344CB8AC3E}">
        <p14:creationId xmlns:p14="http://schemas.microsoft.com/office/powerpoint/2010/main" val="917176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9976F2-C5BB-01DD-C97D-D7A582D23A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46C452-7148-A7C7-450E-67B3E8D8BF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95A8C-6883-D023-944D-85CAF2A768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B2241-4B6A-40A0-A19A-24CEF249587A}" type="datetimeFigureOut">
              <a:rPr lang="en-US" smtClean="0"/>
              <a:t>4/17/2025</a:t>
            </a:fld>
            <a:endParaRPr lang="en-US"/>
          </a:p>
        </p:txBody>
      </p:sp>
      <p:sp>
        <p:nvSpPr>
          <p:cNvPr id="5" name="Footer Placeholder 4">
            <a:extLst>
              <a:ext uri="{FF2B5EF4-FFF2-40B4-BE49-F238E27FC236}">
                <a16:creationId xmlns:a16="http://schemas.microsoft.com/office/drawing/2014/main" id="{490E2C5D-1C95-DA34-A70D-1BF277E48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523265-462F-F15A-2D9B-7804951076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D7870E-DABC-43C5-B070-29DD496D6162}" type="slidenum">
              <a:rPr lang="en-US" smtClean="0"/>
              <a:t>‹#›</a:t>
            </a:fld>
            <a:endParaRPr lang="en-US"/>
          </a:p>
        </p:txBody>
      </p:sp>
    </p:spTree>
    <p:extLst>
      <p:ext uri="{BB962C8B-B14F-4D97-AF65-F5344CB8AC3E}">
        <p14:creationId xmlns:p14="http://schemas.microsoft.com/office/powerpoint/2010/main" val="20138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AB7E1-676D-4620-5B40-EC7CBE279BD2}"/>
              </a:ext>
            </a:extLst>
          </p:cNvPr>
          <p:cNvSpPr>
            <a:spLocks noGrp="1"/>
          </p:cNvSpPr>
          <p:nvPr>
            <p:ph type="ctrTitle"/>
          </p:nvPr>
        </p:nvSpPr>
        <p:spPr/>
        <p:txBody>
          <a:bodyPr>
            <a:normAutofit/>
          </a:bodyPr>
          <a:lstStyle/>
          <a:p>
            <a:r>
              <a:rPr lang="en-US" b="1" dirty="0"/>
              <a:t>1ST QUARTER 2025 DIGITAL BANKING FINANCIAL REPORT</a:t>
            </a:r>
          </a:p>
        </p:txBody>
      </p:sp>
    </p:spTree>
    <p:extLst>
      <p:ext uri="{BB962C8B-B14F-4D97-AF65-F5344CB8AC3E}">
        <p14:creationId xmlns:p14="http://schemas.microsoft.com/office/powerpoint/2010/main" val="2496647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B82803-E2EA-81CA-31FD-F7B914122BD7}"/>
              </a:ext>
            </a:extLst>
          </p:cNvPr>
          <p:cNvSpPr txBox="1"/>
          <p:nvPr/>
        </p:nvSpPr>
        <p:spPr>
          <a:xfrm>
            <a:off x="801074" y="799715"/>
            <a:ext cx="9918440" cy="4524315"/>
          </a:xfrm>
          <a:prstGeom prst="rect">
            <a:avLst/>
          </a:prstGeom>
          <a:noFill/>
        </p:spPr>
        <p:txBody>
          <a:bodyPr wrap="square">
            <a:spAutoFit/>
          </a:bodyPr>
          <a:lstStyle/>
          <a:p>
            <a:r>
              <a:rPr lang="en-US" dirty="0"/>
              <a:t>Overview</a:t>
            </a:r>
          </a:p>
          <a:p>
            <a:r>
              <a:rPr lang="en-US" dirty="0"/>
              <a:t>This report provides insights into all transactions carried out in the first quarter of the year using the new bank mobile application. The analysis covers various transaction types including interbank transfers, airtime purchases, data subscriptions, and utility bill payments, among others.</a:t>
            </a:r>
          </a:p>
          <a:p>
            <a:endParaRPr lang="en-US" dirty="0"/>
          </a:p>
          <a:p>
            <a:r>
              <a:rPr lang="en-US"/>
              <a:t>Objective of the Report</a:t>
            </a:r>
          </a:p>
          <a:p>
            <a:r>
              <a:rPr lang="en-US" dirty="0"/>
              <a:t>The primary aim of this report is to evaluate the performance of the bank's mobile application by identifying user preferences and transactional behavior. Specifically, the objectives include:</a:t>
            </a:r>
          </a:p>
          <a:p>
            <a:endParaRPr lang="en-US" dirty="0"/>
          </a:p>
          <a:p>
            <a:r>
              <a:rPr lang="en-US" dirty="0"/>
              <a:t>To determine the most and least utilized transaction types on the platform.</a:t>
            </a:r>
          </a:p>
          <a:p>
            <a:endParaRPr lang="en-US" dirty="0"/>
          </a:p>
          <a:p>
            <a:r>
              <a:rPr lang="en-US" dirty="0"/>
              <a:t>To assess the overall performance and effectiveness of the mobile application.</a:t>
            </a:r>
          </a:p>
          <a:p>
            <a:endParaRPr lang="en-US" dirty="0"/>
          </a:p>
          <a:p>
            <a:r>
              <a:rPr lang="en-US" dirty="0"/>
              <a:t>To provide data-driven predictions on future financial performance, including potential revenue and profit, to support strategic planning and budgeting decisions.</a:t>
            </a:r>
          </a:p>
          <a:p>
            <a:endParaRPr lang="en-US" dirty="0"/>
          </a:p>
        </p:txBody>
      </p:sp>
    </p:spTree>
    <p:extLst>
      <p:ext uri="{BB962C8B-B14F-4D97-AF65-F5344CB8AC3E}">
        <p14:creationId xmlns:p14="http://schemas.microsoft.com/office/powerpoint/2010/main" val="293121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653BEB7B-E233-81AF-7196-AFDE80F18C71}"/>
              </a:ext>
            </a:extLst>
          </p:cNvPr>
          <p:cNvGraphicFramePr>
            <a:graphicFrameLocks/>
          </p:cNvGraphicFramePr>
          <p:nvPr>
            <p:extLst>
              <p:ext uri="{D42A27DB-BD31-4B8C-83A1-F6EECF244321}">
                <p14:modId xmlns:p14="http://schemas.microsoft.com/office/powerpoint/2010/main" val="4247130911"/>
              </p:ext>
            </p:extLst>
          </p:nvPr>
        </p:nvGraphicFramePr>
        <p:xfrm>
          <a:off x="1118118" y="620486"/>
          <a:ext cx="6477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FB374CAA-D0E5-7159-1BFF-6679490D804B}"/>
              </a:ext>
            </a:extLst>
          </p:cNvPr>
          <p:cNvGraphicFramePr>
            <a:graphicFrameLocks/>
          </p:cNvGraphicFramePr>
          <p:nvPr>
            <p:extLst>
              <p:ext uri="{D42A27DB-BD31-4B8C-83A1-F6EECF244321}">
                <p14:modId xmlns:p14="http://schemas.microsoft.com/office/powerpoint/2010/main" val="348792583"/>
              </p:ext>
            </p:extLst>
          </p:nvPr>
        </p:nvGraphicFramePr>
        <p:xfrm>
          <a:off x="1118118" y="3494314"/>
          <a:ext cx="6477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49B2FECE-C9AB-FE34-5744-FD75F8C5F269}"/>
              </a:ext>
            </a:extLst>
          </p:cNvPr>
          <p:cNvSpPr txBox="1"/>
          <p:nvPr/>
        </p:nvSpPr>
        <p:spPr>
          <a:xfrm>
            <a:off x="7949682" y="1486249"/>
            <a:ext cx="3974839" cy="3970318"/>
          </a:xfrm>
          <a:prstGeom prst="rect">
            <a:avLst/>
          </a:prstGeom>
          <a:noFill/>
        </p:spPr>
        <p:txBody>
          <a:bodyPr wrap="square" rtlCol="0">
            <a:spAutoFit/>
          </a:bodyPr>
          <a:lstStyle/>
          <a:p>
            <a:r>
              <a:rPr lang="en-US" sz="1400" dirty="0"/>
              <a:t>Total Transactions by Day of the Week</a:t>
            </a:r>
          </a:p>
          <a:p>
            <a:endParaRPr lang="en-US" sz="1400" dirty="0"/>
          </a:p>
          <a:p>
            <a:r>
              <a:rPr lang="en-US" sz="1400" dirty="0"/>
              <a:t>This  provides a breakdown of total transaction amounts and associated fees for the week. The data reflects daily activity from Monday through Sunday.</a:t>
            </a:r>
          </a:p>
          <a:p>
            <a:r>
              <a:rPr lang="en-US" sz="1400" dirty="0"/>
              <a:t>Key Insights:</a:t>
            </a:r>
          </a:p>
          <a:p>
            <a:r>
              <a:rPr lang="en-US" sz="1400" dirty="0"/>
              <a:t>Day with Highest Transaction: Friday (₦68,600)</a:t>
            </a:r>
          </a:p>
          <a:p>
            <a:endParaRPr lang="en-US" sz="1400" dirty="0"/>
          </a:p>
          <a:p>
            <a:r>
              <a:rPr lang="en-US" sz="1400" dirty="0"/>
              <a:t>Day with Highest Fee : Wednesday (₦270)</a:t>
            </a:r>
          </a:p>
          <a:p>
            <a:endParaRPr lang="en-US" sz="1400" dirty="0"/>
          </a:p>
          <a:p>
            <a:r>
              <a:rPr lang="en-US" sz="1400" dirty="0"/>
              <a:t>Day with lowest Transaction : Sunday (₦700, ₦0 fee)</a:t>
            </a:r>
          </a:p>
          <a:p>
            <a:endParaRPr lang="en-US" sz="1400" dirty="0"/>
          </a:p>
          <a:p>
            <a:r>
              <a:rPr lang="en-US" sz="1400" dirty="0"/>
              <a:t>Day with lowest Fee : Monday (₦0)</a:t>
            </a:r>
          </a:p>
          <a:p>
            <a:endParaRPr lang="en-US" sz="1400" dirty="0"/>
          </a:p>
          <a:p>
            <a:r>
              <a:rPr lang="en-US" sz="1400" dirty="0"/>
              <a:t> Most Costly Fee Relative to Amount: Saturday (₦800 with ₦100 fee = 12.5%) </a:t>
            </a:r>
          </a:p>
          <a:p>
            <a:endParaRPr lang="en-US" sz="1400" dirty="0"/>
          </a:p>
          <a:p>
            <a:r>
              <a:rPr lang="en-US" sz="1400" dirty="0"/>
              <a:t>The English is somehow</a:t>
            </a:r>
          </a:p>
        </p:txBody>
      </p:sp>
    </p:spTree>
    <p:extLst>
      <p:ext uri="{BB962C8B-B14F-4D97-AF65-F5344CB8AC3E}">
        <p14:creationId xmlns:p14="http://schemas.microsoft.com/office/powerpoint/2010/main" val="395814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24640D6-0156-22BA-A1D7-A4E4F2B93CE9}"/>
              </a:ext>
            </a:extLst>
          </p:cNvPr>
          <p:cNvGraphicFramePr>
            <a:graphicFrameLocks/>
          </p:cNvGraphicFramePr>
          <p:nvPr>
            <p:extLst>
              <p:ext uri="{D42A27DB-BD31-4B8C-83A1-F6EECF244321}">
                <p14:modId xmlns:p14="http://schemas.microsoft.com/office/powerpoint/2010/main" val="4262052225"/>
              </p:ext>
            </p:extLst>
          </p:nvPr>
        </p:nvGraphicFramePr>
        <p:xfrm>
          <a:off x="562016" y="849630"/>
          <a:ext cx="5871210" cy="515874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6D9513D6-C8A8-C90A-AABD-0734DFDAD53D}"/>
              </a:ext>
            </a:extLst>
          </p:cNvPr>
          <p:cNvSpPr txBox="1"/>
          <p:nvPr/>
        </p:nvSpPr>
        <p:spPr>
          <a:xfrm>
            <a:off x="7344383" y="849630"/>
            <a:ext cx="3921665" cy="3970318"/>
          </a:xfrm>
          <a:prstGeom prst="rect">
            <a:avLst/>
          </a:prstGeom>
          <a:noFill/>
        </p:spPr>
        <p:txBody>
          <a:bodyPr wrap="square">
            <a:spAutoFit/>
          </a:bodyPr>
          <a:lstStyle/>
          <a:p>
            <a:pPr algn="just"/>
            <a:r>
              <a:rPr lang="en-US" sz="1400" dirty="0"/>
              <a:t> January</a:t>
            </a:r>
          </a:p>
          <a:p>
            <a:pPr algn="just"/>
            <a:r>
              <a:rPr lang="en-US" sz="1400" dirty="0"/>
              <a:t>    The total amount recorded in January was ₦58,600. This represents a modest start to the quarter and laid the foundation for the performance in the following months.</a:t>
            </a:r>
          </a:p>
          <a:p>
            <a:pPr algn="just"/>
            <a:endParaRPr lang="en-US" sz="1400" dirty="0"/>
          </a:p>
          <a:p>
            <a:pPr algn="just"/>
            <a:r>
              <a:rPr lang="en-US" sz="1400" dirty="0"/>
              <a:t>    February</a:t>
            </a:r>
          </a:p>
          <a:p>
            <a:pPr algn="just"/>
            <a:r>
              <a:rPr lang="en-US" sz="1400" dirty="0"/>
              <a:t>    February saw a significant increase in activity, with a total of ₦141,550. This marks a 141% increase from January, indicating either higher revenue generation, increased inflows.</a:t>
            </a:r>
          </a:p>
          <a:p>
            <a:pPr algn="just"/>
            <a:endParaRPr lang="en-US" sz="1400" dirty="0"/>
          </a:p>
          <a:p>
            <a:pPr algn="just"/>
            <a:r>
              <a:rPr lang="en-US" sz="1400" dirty="0"/>
              <a:t>   March</a:t>
            </a:r>
          </a:p>
          <a:p>
            <a:pPr algn="just"/>
            <a:r>
              <a:rPr lang="en-US" sz="1400" dirty="0"/>
              <a:t>  March recorded the lowest amount at ₦9,100. This sharp decline (-93.6% from February) suggests a drop  in financial activity, which is due to the network glitch that was experience for around 7days. </a:t>
            </a:r>
          </a:p>
        </p:txBody>
      </p:sp>
    </p:spTree>
    <p:extLst>
      <p:ext uri="{BB962C8B-B14F-4D97-AF65-F5344CB8AC3E}">
        <p14:creationId xmlns:p14="http://schemas.microsoft.com/office/powerpoint/2010/main" val="4273297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BFF7F8A-23F2-9FEF-1542-0E10F5734360}"/>
              </a:ext>
            </a:extLst>
          </p:cNvPr>
          <p:cNvGraphicFramePr>
            <a:graphicFrameLocks/>
          </p:cNvGraphicFramePr>
          <p:nvPr>
            <p:extLst>
              <p:ext uri="{D42A27DB-BD31-4B8C-83A1-F6EECF244321}">
                <p14:modId xmlns:p14="http://schemas.microsoft.com/office/powerpoint/2010/main" val="3640834812"/>
              </p:ext>
            </p:extLst>
          </p:nvPr>
        </p:nvGraphicFramePr>
        <p:xfrm>
          <a:off x="1192375" y="1347787"/>
          <a:ext cx="5090160" cy="416242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6E96C080-5557-8022-4337-D77D568CE613}"/>
              </a:ext>
            </a:extLst>
          </p:cNvPr>
          <p:cNvSpPr txBox="1"/>
          <p:nvPr/>
        </p:nvSpPr>
        <p:spPr>
          <a:xfrm>
            <a:off x="7725747" y="821094"/>
            <a:ext cx="4348065" cy="5693866"/>
          </a:xfrm>
          <a:prstGeom prst="rect">
            <a:avLst/>
          </a:prstGeom>
          <a:noFill/>
        </p:spPr>
        <p:txBody>
          <a:bodyPr wrap="square" rtlCol="0">
            <a:spAutoFit/>
          </a:bodyPr>
          <a:lstStyle/>
          <a:p>
            <a:r>
              <a:rPr lang="en-US" sz="1400" b="1" dirty="0"/>
              <a:t>Volume of Transactions per Month</a:t>
            </a:r>
          </a:p>
          <a:p>
            <a:endParaRPr lang="en-US" sz="1400" dirty="0"/>
          </a:p>
          <a:p>
            <a:r>
              <a:rPr lang="en-US" sz="1400" dirty="0"/>
              <a:t>Report on the volume of transaction done for each  month.</a:t>
            </a:r>
          </a:p>
          <a:p>
            <a:r>
              <a:rPr lang="en-US" sz="1400" dirty="0"/>
              <a:t> </a:t>
            </a:r>
          </a:p>
          <a:p>
            <a:r>
              <a:rPr lang="en-US" sz="1400" b="1" dirty="0"/>
              <a:t>January</a:t>
            </a:r>
          </a:p>
          <a:p>
            <a:r>
              <a:rPr lang="en-US" sz="1400" dirty="0"/>
              <a:t> January recorded 30 transactions, marking the start of the quarter with moderate activity. This figure provides a useful benchmark for comparing the performance of subsequent months.</a:t>
            </a:r>
          </a:p>
          <a:p>
            <a:endParaRPr lang="en-US" sz="1400" dirty="0"/>
          </a:p>
          <a:p>
            <a:r>
              <a:rPr lang="en-US" sz="1400" dirty="0"/>
              <a:t> </a:t>
            </a:r>
            <a:r>
              <a:rPr lang="en-US" sz="1400" b="1" dirty="0"/>
              <a:t>February</a:t>
            </a:r>
          </a:p>
          <a:p>
            <a:r>
              <a:rPr lang="en-US" sz="1400" dirty="0"/>
              <a:t>  February experienced a noticeable increase with 42 transactions, the highest in the quarter. This represents a 40% increase over January, indicating a surge in customer engagement or operational activity.</a:t>
            </a:r>
          </a:p>
          <a:p>
            <a:endParaRPr lang="en-US" sz="1400" dirty="0"/>
          </a:p>
          <a:p>
            <a:r>
              <a:rPr lang="en-US" sz="1400" dirty="0"/>
              <a:t>  </a:t>
            </a:r>
            <a:r>
              <a:rPr lang="en-US" sz="1400" b="1" dirty="0"/>
              <a:t>March</a:t>
            </a:r>
          </a:p>
          <a:p>
            <a:r>
              <a:rPr lang="en-US" sz="1400" dirty="0"/>
              <a:t> March saw a slight dip to 41 transactions, but this did not reflect in the amount  transacted in the course of the month due to the network glitch experience in the month, the high-volume experience in match was due to the transaction testing after the network was restored back.</a:t>
            </a:r>
          </a:p>
          <a:p>
            <a:endParaRPr lang="en-US" sz="1400" dirty="0"/>
          </a:p>
        </p:txBody>
      </p:sp>
    </p:spTree>
    <p:extLst>
      <p:ext uri="{BB962C8B-B14F-4D97-AF65-F5344CB8AC3E}">
        <p14:creationId xmlns:p14="http://schemas.microsoft.com/office/powerpoint/2010/main" val="3215230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52D7300-7358-453F-CEA4-4E295FD198BC}"/>
              </a:ext>
            </a:extLst>
          </p:cNvPr>
          <p:cNvGraphicFramePr>
            <a:graphicFrameLocks/>
          </p:cNvGraphicFramePr>
          <p:nvPr>
            <p:extLst>
              <p:ext uri="{D42A27DB-BD31-4B8C-83A1-F6EECF244321}">
                <p14:modId xmlns:p14="http://schemas.microsoft.com/office/powerpoint/2010/main" val="2733309898"/>
              </p:ext>
            </p:extLst>
          </p:nvPr>
        </p:nvGraphicFramePr>
        <p:xfrm>
          <a:off x="261256" y="484141"/>
          <a:ext cx="704679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42D5111B-4B84-51A1-B1F6-1943274C6E8F}"/>
              </a:ext>
            </a:extLst>
          </p:cNvPr>
          <p:cNvGraphicFramePr>
            <a:graphicFrameLocks/>
          </p:cNvGraphicFramePr>
          <p:nvPr>
            <p:extLst>
              <p:ext uri="{D42A27DB-BD31-4B8C-83A1-F6EECF244321}">
                <p14:modId xmlns:p14="http://schemas.microsoft.com/office/powerpoint/2010/main" val="572966996"/>
              </p:ext>
            </p:extLst>
          </p:nvPr>
        </p:nvGraphicFramePr>
        <p:xfrm>
          <a:off x="408370" y="4086810"/>
          <a:ext cx="7130764" cy="228704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046BE965-29FC-72BD-73DB-195DC58DFEA7}"/>
              </a:ext>
            </a:extLst>
          </p:cNvPr>
          <p:cNvSpPr txBox="1"/>
          <p:nvPr/>
        </p:nvSpPr>
        <p:spPr>
          <a:xfrm>
            <a:off x="7554686" y="484141"/>
            <a:ext cx="4376058" cy="5693866"/>
          </a:xfrm>
          <a:prstGeom prst="rect">
            <a:avLst/>
          </a:prstGeom>
          <a:noFill/>
        </p:spPr>
        <p:txBody>
          <a:bodyPr wrap="square" rtlCol="0">
            <a:spAutoFit/>
          </a:bodyPr>
          <a:lstStyle/>
          <a:p>
            <a:r>
              <a:rPr lang="en-US" sz="1300" b="1" dirty="0"/>
              <a:t>Report on the Top 5 Quarterly Transaction</a:t>
            </a:r>
            <a:r>
              <a:rPr lang="en-US" sz="1300" dirty="0"/>
              <a:t>.</a:t>
            </a:r>
          </a:p>
          <a:p>
            <a:r>
              <a:rPr lang="en-US" sz="1300" dirty="0"/>
              <a:t>1) NIP Credit Request Transaction remains the dominant channel in terms of transaction value, accounting for ₦142,000 or approximately 71.5% of the total top 5 transaction volume. However, this channel does not generate fee income because it is an inward credit transfer.</a:t>
            </a:r>
          </a:p>
          <a:p>
            <a:endParaRPr lang="en-US" sz="1300" dirty="0"/>
          </a:p>
          <a:p>
            <a:r>
              <a:rPr lang="en-US" sz="1300" dirty="0"/>
              <a:t>2) </a:t>
            </a:r>
            <a:r>
              <a:rPr lang="en-US" sz="1300" dirty="0" err="1"/>
              <a:t>EazyPay</a:t>
            </a:r>
            <a:r>
              <a:rPr lang="en-US" sz="1300" dirty="0"/>
              <a:t> Outward Funds Transfer is the second-largest channel, contributing ₦34,100 in volume and ₦268.76 in fees. This indicates a fee yield of 0.79%, making it the most profitable channel in this group based on fee-to-volume ratio.</a:t>
            </a:r>
          </a:p>
          <a:p>
            <a:endParaRPr lang="en-US" sz="1300" dirty="0"/>
          </a:p>
          <a:p>
            <a:r>
              <a:rPr lang="en-US" sz="1300" dirty="0"/>
              <a:t>3) Bills Payment Services, including general bill payments and specific top-ups like EKEDC Prepaid, together contribute ₦15,400 in volume and ₦200 in fees. This category, while lower in total volume, shows consistent fee income, indicating regular customer use for utility and prepaid services.</a:t>
            </a:r>
          </a:p>
          <a:p>
            <a:endParaRPr lang="en-US" sz="1300" dirty="0"/>
          </a:p>
          <a:p>
            <a:r>
              <a:rPr lang="en-US" sz="1300" dirty="0"/>
              <a:t>4) NIP Credit Transactions, though smaller in total volume (₦7,000), generate no fee income. This may warrant a review to assess potential revenue opportunities or ensure cost-effective servicing.</a:t>
            </a:r>
          </a:p>
          <a:p>
            <a:endParaRPr lang="en-US" sz="1300" dirty="0"/>
          </a:p>
          <a:p>
            <a:r>
              <a:rPr lang="en-US" sz="1300" dirty="0"/>
              <a:t>5) Bills Payment- EKEDC</a:t>
            </a:r>
          </a:p>
          <a:p>
            <a:r>
              <a:rPr lang="en-US" sz="1300" dirty="0"/>
              <a:t>Eko electricity is the least performing among the top 5 quarterly transaction but we can say it performed well and we should encourage more of bills payment because it comes with a fee.</a:t>
            </a:r>
          </a:p>
        </p:txBody>
      </p:sp>
    </p:spTree>
    <p:extLst>
      <p:ext uri="{BB962C8B-B14F-4D97-AF65-F5344CB8AC3E}">
        <p14:creationId xmlns:p14="http://schemas.microsoft.com/office/powerpoint/2010/main" val="1990139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2EFE5030-020A-9D48-7DEE-339BEBC46750}"/>
              </a:ext>
            </a:extLst>
          </p:cNvPr>
          <p:cNvGraphicFramePr>
            <a:graphicFrameLocks/>
          </p:cNvGraphicFramePr>
          <p:nvPr>
            <p:extLst>
              <p:ext uri="{D42A27DB-BD31-4B8C-83A1-F6EECF244321}">
                <p14:modId xmlns:p14="http://schemas.microsoft.com/office/powerpoint/2010/main" val="57331255"/>
              </p:ext>
            </p:extLst>
          </p:nvPr>
        </p:nvGraphicFramePr>
        <p:xfrm>
          <a:off x="1132113" y="1254968"/>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323686EC-4FEC-557D-1445-CA86ABDE900B}"/>
              </a:ext>
            </a:extLst>
          </p:cNvPr>
          <p:cNvGraphicFramePr>
            <a:graphicFrameLocks/>
          </p:cNvGraphicFramePr>
          <p:nvPr>
            <p:extLst>
              <p:ext uri="{D42A27DB-BD31-4B8C-83A1-F6EECF244321}">
                <p14:modId xmlns:p14="http://schemas.microsoft.com/office/powerpoint/2010/main" val="1424341247"/>
              </p:ext>
            </p:extLst>
          </p:nvPr>
        </p:nvGraphicFramePr>
        <p:xfrm>
          <a:off x="5974702" y="1254968"/>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E60825A3-A073-5E2F-1D71-F03B5ECDE932}"/>
              </a:ext>
            </a:extLst>
          </p:cNvPr>
          <p:cNvSpPr txBox="1"/>
          <p:nvPr/>
        </p:nvSpPr>
        <p:spPr>
          <a:xfrm>
            <a:off x="597159" y="4432041"/>
            <a:ext cx="10142376" cy="923330"/>
          </a:xfrm>
          <a:prstGeom prst="rect">
            <a:avLst/>
          </a:prstGeom>
          <a:noFill/>
        </p:spPr>
        <p:txBody>
          <a:bodyPr wrap="square" rtlCol="0">
            <a:spAutoFit/>
          </a:bodyPr>
          <a:lstStyle/>
          <a:p>
            <a:endParaRPr lang="en-US" dirty="0"/>
          </a:p>
          <a:p>
            <a:r>
              <a:rPr lang="en-US" dirty="0"/>
              <a:t>The Head Office Branch has the highest amount of transaction for the 1st </a:t>
            </a:r>
            <a:r>
              <a:rPr lang="en-US" dirty="0" err="1"/>
              <a:t>quater</a:t>
            </a:r>
            <a:r>
              <a:rPr lang="en-US" dirty="0"/>
              <a:t>, it also has the highest fee. This analysis shows a </a:t>
            </a:r>
            <a:r>
              <a:rPr lang="en-US" dirty="0" err="1"/>
              <a:t>correletion</a:t>
            </a:r>
            <a:r>
              <a:rPr lang="en-US" dirty="0"/>
              <a:t> between the total transaction and the fee charged for the 1st </a:t>
            </a:r>
            <a:r>
              <a:rPr lang="en-US" dirty="0" err="1"/>
              <a:t>quater</a:t>
            </a:r>
            <a:r>
              <a:rPr lang="en-US" dirty="0"/>
              <a:t>.</a:t>
            </a:r>
          </a:p>
        </p:txBody>
      </p:sp>
    </p:spTree>
    <p:extLst>
      <p:ext uri="{BB962C8B-B14F-4D97-AF65-F5344CB8AC3E}">
        <p14:creationId xmlns:p14="http://schemas.microsoft.com/office/powerpoint/2010/main" val="74808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4510-A79E-EED0-BBEC-74A62EDAA6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0D11D3-D2EB-1D7A-C9FE-C8B90E58E668}"/>
              </a:ext>
            </a:extLst>
          </p:cNvPr>
          <p:cNvSpPr txBox="1"/>
          <p:nvPr/>
        </p:nvSpPr>
        <p:spPr>
          <a:xfrm>
            <a:off x="608736" y="490387"/>
            <a:ext cx="11171931" cy="6246646"/>
          </a:xfrm>
          <a:prstGeom prst="rect">
            <a:avLst/>
          </a:prstGeom>
          <a:noFill/>
        </p:spPr>
        <p:txBody>
          <a:bodyPr wrap="square">
            <a:spAutoFit/>
          </a:bodyPr>
          <a:lstStyle/>
          <a:p>
            <a:pPr>
              <a:lnSpc>
                <a:spcPct val="115000"/>
              </a:lnSpc>
              <a:spcAft>
                <a:spcPts val="800"/>
              </a:spcAft>
              <a:buNone/>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Recommendations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Implementation of CBN-Mandated Charges on NIP Credit Transactions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The NIP Credit transaction recorded the highest transaction volume in Q1; however, it currently does not attract any charges. According to the CBN policy, every credit transaction above ₦10,000 should incur a ₦50 charge. It is recommended that the software development team update the system to ensure compliance, so all credit transactions exceeding ₦10,000 are automatically charged the applicable fee.</a:t>
            </a: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Salary Payment into Tofa Bank Accounts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To boost customer engagement with the Tofa Bank mobile application, it is advised that staff salaries be paid directly into their Tofa Bank accounts. This initiative will promote the consistent use of the bank's digital services.</a:t>
            </a: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Promotion of </a:t>
            </a:r>
            <a:r>
              <a:rPr lang="en-US" sz="1400" b="1" kern="100" dirty="0" err="1">
                <a:effectLst/>
                <a:latin typeface="Calibri" panose="020F0502020204030204" pitchFamily="34" charset="0"/>
                <a:ea typeface="Calibri" panose="020F0502020204030204" pitchFamily="34" charset="0"/>
                <a:cs typeface="Times New Roman" panose="02020603050405020304" pitchFamily="18" charset="0"/>
              </a:rPr>
              <a:t>EazyPay</a:t>
            </a: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 Outward Transactions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The bank should encourage the use of the </a:t>
            </a:r>
            <a:r>
              <a:rPr lang="en-US" sz="1400" kern="100" dirty="0" err="1">
                <a:effectLst/>
                <a:latin typeface="Calibri" panose="020F0502020204030204" pitchFamily="34" charset="0"/>
                <a:ea typeface="Calibri" panose="020F0502020204030204" pitchFamily="34" charset="0"/>
                <a:cs typeface="Times New Roman" panose="02020603050405020304" pitchFamily="18" charset="0"/>
              </a:rPr>
              <a:t>EazyPay</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outward feature within the mobile application. This service generates a fee for each transaction, thereby increasing the bank's revenue. Promotions or incentives can be used to drive user adoption.</a:t>
            </a: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Revenue Transparency on Airtime and Data Purchases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It is recommended that the software be enhanced to display a breakdown of the percentage of revenue shared between the bank and telecommunications companies on airtime and data purchases. This will provide clarity on the actual earnings the bank derives from these services.</a:t>
            </a: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Promotion of Profitable Transaction Channels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Services such as </a:t>
            </a:r>
            <a:r>
              <a:rPr lang="en-US" sz="1400" kern="100" dirty="0" err="1">
                <a:effectLst/>
                <a:latin typeface="Calibri" panose="020F0502020204030204" pitchFamily="34" charset="0"/>
                <a:ea typeface="Calibri" panose="020F0502020204030204" pitchFamily="34" charset="0"/>
                <a:cs typeface="Times New Roman" panose="02020603050405020304" pitchFamily="18" charset="0"/>
              </a:rPr>
              <a:t>EazyPay</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outward fund transfers, which currently generate higher fee income, should be actively promoted. Encouraging users to make interbank transfers via the mobile app will increase transaction volume and boost revenue.</a:t>
            </a:r>
          </a:p>
          <a:p>
            <a:pPr marL="342900" lvl="0" indent="-342900">
              <a:lnSpc>
                <a:spcPct val="115000"/>
              </a:lnSpc>
              <a:spcAft>
                <a:spcPts val="800"/>
              </a:spcAft>
              <a:buFont typeface="+mj-lt"/>
              <a:buAutoNum type="arabicPeriod"/>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Expansion of Bill Payment Services</a:t>
            </a:r>
            <a:br>
              <a:rPr lang="en-US" sz="1400" kern="100" dirty="0">
                <a:effectLst/>
                <a:latin typeface="Calibri" panose="020F0502020204030204" pitchFamily="34" charset="0"/>
                <a:ea typeface="Calibri" panose="020F0502020204030204" pitchFamily="34" charset="0"/>
                <a:cs typeface="Times New Roman" panose="02020603050405020304" pitchFamily="18" charset="0"/>
              </a:rPr>
            </a:b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Bill payments through the app have shown steady income potential. To maximize this, the bank should seek to expand its bill payment offerings by partnering with more utility service providers—such as those for Airtime, DSTV, and electricity subscriptions. Additionally, introducing new payment options like JAMB scratch card purchases can further increase revenue from bill payments.</a:t>
            </a:r>
          </a:p>
          <a:p>
            <a:pPr>
              <a:lnSpc>
                <a:spcPct val="115000"/>
              </a:lnSpc>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205565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1146</Words>
  <Application>Microsoft Office PowerPoint</Application>
  <PresentationFormat>Widescreen</PresentationFormat>
  <Paragraphs>77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1ST QUARTER 2025 DIGITAL BANKING FINANCIAL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OMOFERIMI ALOBA</dc:creator>
  <cp:lastModifiedBy>OMOFERIMI ALOBA</cp:lastModifiedBy>
  <cp:revision>10</cp:revision>
  <dcterms:created xsi:type="dcterms:W3CDTF">2025-04-12T16:14:10Z</dcterms:created>
  <dcterms:modified xsi:type="dcterms:W3CDTF">2025-04-17T05:48:01Z</dcterms:modified>
</cp:coreProperties>
</file>